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5F9"/>
          </a:solidFill>
          <a:ln/>
        </p:spPr>
      </p:sp>
      <p:sp>
        <p:nvSpPr>
          <p:cNvPr id="3" name="Shape 1"/>
          <p:cNvSpPr/>
          <p:nvPr/>
        </p:nvSpPr>
        <p:spPr>
          <a:xfrm>
            <a:off x="0" y="0"/>
            <a:ext cx="12191695" cy="2377440"/>
          </a:xfrm>
          <a:prstGeom prst="rect">
            <a:avLst/>
          </a:prstGeom>
          <a:solidFill>
            <a:srgbClr val="12385B"/>
          </a:solidFill>
          <a:ln/>
        </p:spPr>
      </p:sp>
      <p:sp>
        <p:nvSpPr>
          <p:cNvPr id="4" name="Text 2"/>
          <p:cNvSpPr/>
          <p:nvPr/>
        </p:nvSpPr>
        <p:spPr>
          <a:xfrm>
            <a:off x="457200" y="502920"/>
            <a:ext cx="11277295" cy="320040"/>
          </a:xfrm>
          <a:prstGeom prst="rect">
            <a:avLst/>
          </a:prstGeom>
          <a:noFill/>
          <a:ln/>
        </p:spPr>
        <p:txBody>
          <a:bodyPr wrap="square" lIns="0" tIns="0" rIns="0" bIns="0" rtlCol="0" anchor="ctr"/>
          <a:lstStyle/>
          <a:p>
            <a:pPr indent="0" marL="0">
              <a:buNone/>
            </a:pPr>
            <a:r>
              <a:rPr lang="en-US" sz="1400" b="1" dirty="0">
                <a:solidFill>
                  <a:srgbClr val="DCEEF7"/>
                </a:solidFill>
                <a:latin typeface="Yu Gothic" pitchFamily="34" charset="0"/>
                <a:ea typeface="Yu Gothic" pitchFamily="34" charset="-122"/>
                <a:cs typeface="Yu Gothic" pitchFamily="34" charset="-120"/>
              </a:rPr>
              <a:t>PHYSICAL SCIENCES / Science Advances (2022)</a:t>
            </a:r>
            <a:endParaRPr lang="en-US" sz="1400" dirty="0"/>
          </a:p>
        </p:txBody>
      </p:sp>
      <p:sp>
        <p:nvSpPr>
          <p:cNvPr id="5" name="Text 3"/>
          <p:cNvSpPr/>
          <p:nvPr/>
        </p:nvSpPr>
        <p:spPr>
          <a:xfrm>
            <a:off x="457200" y="868680"/>
            <a:ext cx="11277295" cy="1371600"/>
          </a:xfrm>
          <a:prstGeom prst="rect">
            <a:avLst/>
          </a:prstGeom>
          <a:noFill/>
          <a:ln/>
        </p:spPr>
        <p:txBody>
          <a:bodyPr wrap="square" lIns="0" tIns="0" rIns="0" bIns="0" rtlCol="0" anchor="t"/>
          <a:lstStyle/>
          <a:p>
            <a:pPr indent="0" marL="0">
              <a:lnSpc>
                <a:spcPct val="120000"/>
              </a:lnSpc>
              <a:buNone/>
            </a:pPr>
            <a:r>
              <a:rPr lang="en-US" sz="3200" b="1" dirty="0">
                <a:solidFill>
                  <a:srgbClr val="FFFFFF"/>
                </a:solidFill>
                <a:latin typeface="Yu Gothic" pitchFamily="34" charset="0"/>
                <a:ea typeface="Yu Gothic" pitchFamily="34" charset="-122"/>
                <a:cs typeface="Yu Gothic" pitchFamily="34" charset="-120"/>
              </a:rPr>
              <a:t>機械学習による解釈可能な発見：</a:t>
            </a:r>
            <a:endParaRPr lang="en-US" sz="3200" dirty="0"/>
          </a:p>
          <a:p>
            <a:pPr indent="0" marL="0">
              <a:lnSpc>
                <a:spcPct val="120000"/>
              </a:lnSpc>
              <a:buNone/>
            </a:pPr>
            <a:r>
              <a:rPr lang="en-US" sz="3200" b="1" dirty="0">
                <a:solidFill>
                  <a:srgbClr val="FFFFFF"/>
                </a:solidFill>
                <a:latin typeface="Yu Gothic" pitchFamily="34" charset="0"/>
                <a:ea typeface="Yu Gothic" pitchFamily="34" charset="-122"/>
                <a:cs typeface="Yu Gothic" pitchFamily="34" charset="-120"/>
              </a:rPr>
              <a:t>ガス分離膜のための革新的ポリマー</a:t>
            </a:r>
            <a:endParaRPr lang="en-US" sz="3200" dirty="0"/>
          </a:p>
        </p:txBody>
      </p:sp>
      <p:sp>
        <p:nvSpPr>
          <p:cNvPr id="6" name="Text 4"/>
          <p:cNvSpPr/>
          <p:nvPr/>
        </p:nvSpPr>
        <p:spPr>
          <a:xfrm>
            <a:off x="457200" y="2697480"/>
            <a:ext cx="11277295" cy="457200"/>
          </a:xfrm>
          <a:prstGeom prst="rect">
            <a:avLst/>
          </a:prstGeom>
          <a:noFill/>
          <a:ln/>
        </p:spPr>
        <p:txBody>
          <a:bodyPr wrap="square" lIns="0" tIns="0" rIns="0" bIns="0" rtlCol="0" anchor="ctr"/>
          <a:lstStyle/>
          <a:p>
            <a:pPr indent="0" marL="0">
              <a:buNone/>
            </a:pPr>
            <a:r>
              <a:rPr lang="en-US" sz="1600" i="1" dirty="0">
                <a:solidFill>
                  <a:srgbClr val="607089"/>
                </a:solidFill>
                <a:latin typeface="Yu Gothic" pitchFamily="34" charset="0"/>
                <a:ea typeface="Yu Gothic" pitchFamily="34" charset="-122"/>
                <a:cs typeface="Yu Gothic" pitchFamily="34" charset="-120"/>
              </a:rPr>
              <a:t>Machine learning enables interpretable discovery of innovative polymers for gas separation membranes</a:t>
            </a:r>
            <a:endParaRPr lang="en-US" sz="1600" dirty="0"/>
          </a:p>
        </p:txBody>
      </p:sp>
      <p:sp>
        <p:nvSpPr>
          <p:cNvPr id="7" name="Text 5"/>
          <p:cNvSpPr/>
          <p:nvPr/>
        </p:nvSpPr>
        <p:spPr>
          <a:xfrm>
            <a:off x="457200" y="3246120"/>
            <a:ext cx="11277295" cy="320040"/>
          </a:xfrm>
          <a:prstGeom prst="rect">
            <a:avLst/>
          </a:prstGeom>
          <a:noFill/>
          <a:ln/>
        </p:spPr>
        <p:txBody>
          <a:bodyPr wrap="square" lIns="0" tIns="0" rIns="0" bIns="0" rtlCol="0" anchor="ctr"/>
          <a:lstStyle/>
          <a:p>
            <a:pPr indent="0" marL="0">
              <a:buNone/>
            </a:pPr>
            <a:r>
              <a:rPr lang="en-US" sz="1400" dirty="0">
                <a:solidFill>
                  <a:srgbClr val="182235"/>
                </a:solidFill>
                <a:latin typeface="Yu Gothic" pitchFamily="34" charset="0"/>
                <a:ea typeface="Yu Gothic" pitchFamily="34" charset="-122"/>
                <a:cs typeface="Yu Gothic" pitchFamily="34" charset="-120"/>
              </a:rPr>
              <a:t>Jason Yang, Lei Tao, Jinlong He, Jeffrey R. McCutcheon, Ying Li</a:t>
            </a:r>
            <a:endParaRPr lang="en-US" sz="1400" dirty="0"/>
          </a:p>
        </p:txBody>
      </p:sp>
      <p:sp>
        <p:nvSpPr>
          <p:cNvPr id="8" name="Text 6"/>
          <p:cNvSpPr/>
          <p:nvPr/>
        </p:nvSpPr>
        <p:spPr>
          <a:xfrm>
            <a:off x="457200" y="3566160"/>
            <a:ext cx="11277295" cy="320040"/>
          </a:xfrm>
          <a:prstGeom prst="rect">
            <a:avLst/>
          </a:prstGeom>
          <a:noFill/>
          <a:ln/>
        </p:spPr>
        <p:txBody>
          <a:bodyPr wrap="square" lIns="0" tIns="0" rIns="0" bIns="0" rtlCol="0" anchor="ctr"/>
          <a:lstStyle/>
          <a:p>
            <a:pPr indent="0" marL="0">
              <a:buNone/>
            </a:pPr>
            <a:r>
              <a:rPr lang="en-US" sz="1200" dirty="0">
                <a:solidFill>
                  <a:srgbClr val="607089"/>
                </a:solidFill>
                <a:latin typeface="Yu Gothic" pitchFamily="34" charset="0"/>
                <a:ea typeface="Yu Gothic" pitchFamily="34" charset="-122"/>
                <a:cs typeface="Yu Gothic" pitchFamily="34" charset="-120"/>
              </a:rPr>
              <a:t>California Institute of Technology / University of Connecticut</a:t>
            </a:r>
            <a:endParaRPr lang="en-US" sz="1200" dirty="0"/>
          </a:p>
        </p:txBody>
      </p:sp>
      <p:sp>
        <p:nvSpPr>
          <p:cNvPr id="9" name="Text 7"/>
          <p:cNvSpPr/>
          <p:nvPr/>
        </p:nvSpPr>
        <p:spPr>
          <a:xfrm>
            <a:off x="457200" y="3931920"/>
            <a:ext cx="11277295" cy="320040"/>
          </a:xfrm>
          <a:prstGeom prst="rect">
            <a:avLst/>
          </a:prstGeom>
          <a:noFill/>
          <a:ln/>
        </p:spPr>
        <p:txBody>
          <a:bodyPr wrap="square" lIns="0" tIns="0" rIns="0" bIns="0" rtlCol="0" anchor="ctr"/>
          <a:lstStyle/>
          <a:p>
            <a:pPr indent="0" marL="0">
              <a:buNone/>
            </a:pPr>
            <a:r>
              <a:rPr lang="en-US" sz="1200" dirty="0">
                <a:solidFill>
                  <a:srgbClr val="607089"/>
                </a:solidFill>
                <a:latin typeface="Yu Gothic" pitchFamily="34" charset="0"/>
                <a:ea typeface="Yu Gothic" pitchFamily="34" charset="-122"/>
                <a:cs typeface="Yu Gothic" pitchFamily="34" charset="-120"/>
              </a:rPr>
              <a:t>Sci. Adv. 8, eabn9545 (2022年7月20日公開)</a:t>
            </a:r>
            <a:endParaRPr lang="en-US" sz="1200" dirty="0"/>
          </a:p>
        </p:txBody>
      </p:sp>
      <p:sp>
        <p:nvSpPr>
          <p:cNvPr id="10" name="Shape 8"/>
          <p:cNvSpPr/>
          <p:nvPr/>
        </p:nvSpPr>
        <p:spPr>
          <a:xfrm>
            <a:off x="457200" y="4480560"/>
            <a:ext cx="11277295" cy="0"/>
          </a:xfrm>
          <a:prstGeom prst="line">
            <a:avLst/>
          </a:prstGeom>
          <a:noFill/>
          <a:ln w="12700">
            <a:solidFill>
              <a:srgbClr val="A9B8C8"/>
            </a:solidFill>
            <a:prstDash val="solid"/>
          </a:ln>
        </p:spPr>
      </p:sp>
      <p:sp>
        <p:nvSpPr>
          <p:cNvPr id="11" name="Text 9"/>
          <p:cNvSpPr/>
          <p:nvPr/>
        </p:nvSpPr>
        <p:spPr>
          <a:xfrm>
            <a:off x="457200" y="4663440"/>
            <a:ext cx="5486400" cy="365760"/>
          </a:xfrm>
          <a:prstGeom prst="rect">
            <a:avLst/>
          </a:prstGeom>
          <a:noFill/>
          <a:ln/>
        </p:spPr>
        <p:txBody>
          <a:bodyPr wrap="square" lIns="0" tIns="0" rIns="0" bIns="0" rtlCol="0" anchor="ctr"/>
          <a:lstStyle/>
          <a:p>
            <a:pPr indent="0" marL="0">
              <a:buNone/>
            </a:pPr>
            <a:r>
              <a:rPr lang="en-US" sz="1600" b="1" dirty="0">
                <a:solidFill>
                  <a:srgbClr val="12385B"/>
                </a:solidFill>
                <a:latin typeface="Yu Gothic" pitchFamily="34" charset="0"/>
                <a:ea typeface="Yu Gothic" pitchFamily="34" charset="-122"/>
                <a:cs typeface="Yu Gothic" pitchFamily="34" charset="-120"/>
              </a:rPr>
              <a:t>論文紹介・セミナー資料</a:t>
            </a:r>
            <a:endParaRPr lang="en-US" sz="1600" dirty="0"/>
          </a:p>
        </p:txBody>
      </p:sp>
      <p:sp>
        <p:nvSpPr>
          <p:cNvPr id="12" name="Text 10"/>
          <p:cNvSpPr/>
          <p:nvPr/>
        </p:nvSpPr>
        <p:spPr>
          <a:xfrm>
            <a:off x="457200" y="5074920"/>
            <a:ext cx="5486400" cy="320040"/>
          </a:xfrm>
          <a:prstGeom prst="rect">
            <a:avLst/>
          </a:prstGeom>
          <a:noFill/>
          <a:ln/>
        </p:spPr>
        <p:txBody>
          <a:bodyPr wrap="square" lIns="0" tIns="0" rIns="0" bIns="0" rtlCol="0" anchor="ctr"/>
          <a:lstStyle/>
          <a:p>
            <a:pPr indent="0" marL="0">
              <a:buNone/>
            </a:pPr>
            <a:r>
              <a:rPr lang="en-US" sz="1200" dirty="0">
                <a:solidFill>
                  <a:srgbClr val="607089"/>
                </a:solidFill>
                <a:latin typeface="Yu Gothic" pitchFamily="34" charset="0"/>
                <a:ea typeface="Yu Gothic" pitchFamily="34" charset="-122"/>
                <a:cs typeface="Yu Gothic" pitchFamily="34" charset="-120"/>
              </a:rPr>
              <a:t>作成：NIMS ARIM Center Hub</a:t>
            </a:r>
            <a:endParaRPr lang="en-US" sz="1200" dirty="0"/>
          </a:p>
        </p:txBody>
      </p:sp>
      <p:sp>
        <p:nvSpPr>
          <p:cNvPr id="13" name="Shape 11"/>
          <p:cNvSpPr/>
          <p:nvPr/>
        </p:nvSpPr>
        <p:spPr>
          <a:xfrm>
            <a:off x="457200" y="6355080"/>
            <a:ext cx="11277295" cy="0"/>
          </a:xfrm>
          <a:prstGeom prst="line">
            <a:avLst/>
          </a:prstGeom>
          <a:noFill/>
          <a:ln w="9525">
            <a:solidFill>
              <a:srgbClr val="D5DEE7"/>
            </a:solidFill>
            <a:prstDash val="solid"/>
          </a:ln>
        </p:spPr>
      </p:sp>
      <p:sp>
        <p:nvSpPr>
          <p:cNvPr id="14" name="Text 12"/>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Yang et al., Machine learning enables interpretable discovery of innovative polymers for gas separation membranes. Sci. Adv. 8, eabn9545 (2022).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2</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一言でいうと何をした研究か</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ポリマー化学構造からガス透過性を予測するMLモデルを構築し、900万種超の仮想ポリマーから高性能な膜候補を発見・MDで検証した</a:t>
            </a:r>
            <a:endParaRPr lang="en-US" sz="1800" dirty="0"/>
          </a:p>
        </p:txBody>
      </p:sp>
      <p:sp>
        <p:nvSpPr>
          <p:cNvPr id="6" name="Text 4"/>
          <p:cNvSpPr/>
          <p:nvPr/>
        </p:nvSpPr>
        <p:spPr>
          <a:xfrm>
            <a:off x="457200" y="1965960"/>
            <a:ext cx="6949440" cy="42062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353種の実測データ（PoLyInfo・MSA）でHe, H2, O2, N2, CO2, CH4の透過性を予測するマルチタスクML（ランダムフォレスト／DNNアンサンブル）を学習</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SHAP解析によりモデルを解釈し、透過性・選択性を左右する化学的特徴（メチル基、脂環、極性基など）を特定</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900万種超の仮想ポリマー（仮想ポリイミド・ラダーポリマーを含む）をスクリーニングし、Robeson上限を超える候補を多数発見</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高精度分子動力学（MD）シミュレーションにより、上位候補の予測透過性の妥当性を検証</a:t>
            </a:r>
            <a:endParaRPr lang="en-US" sz="1200" dirty="0"/>
          </a:p>
        </p:txBody>
      </p:sp>
      <p:sp>
        <p:nvSpPr>
          <p:cNvPr id="7" name="Shape 5"/>
          <p:cNvSpPr/>
          <p:nvPr/>
        </p:nvSpPr>
        <p:spPr>
          <a:xfrm>
            <a:off x="7680960" y="2103120"/>
            <a:ext cx="1737360" cy="822960"/>
          </a:xfrm>
          <a:prstGeom prst="rect">
            <a:avLst/>
          </a:prstGeom>
          <a:solidFill>
            <a:srgbClr val="DCEEF7"/>
          </a:solidFill>
          <a:ln/>
        </p:spPr>
      </p:sp>
      <p:sp>
        <p:nvSpPr>
          <p:cNvPr id="8" name="Text 6"/>
          <p:cNvSpPr/>
          <p:nvPr/>
        </p:nvSpPr>
        <p:spPr>
          <a:xfrm>
            <a:off x="7726680" y="2103120"/>
            <a:ext cx="1645920" cy="822960"/>
          </a:xfrm>
          <a:prstGeom prst="rect">
            <a:avLst/>
          </a:prstGeom>
          <a:noFill/>
          <a:ln/>
        </p:spPr>
        <p:txBody>
          <a:bodyPr wrap="square" lIns="0" tIns="0" rIns="0" bIns="0" rtlCol="0" anchor="ctr"/>
          <a:lstStyle/>
          <a:p>
            <a:pPr algn="ctr" indent="0" marL="0">
              <a:buNone/>
            </a:pPr>
            <a:r>
              <a:rPr lang="en-US" sz="1200" b="1" dirty="0">
                <a:solidFill>
                  <a:srgbClr val="12385B"/>
                </a:solidFill>
                <a:latin typeface="Yu Gothic" pitchFamily="34" charset="0"/>
                <a:ea typeface="Yu Gothic" pitchFamily="34" charset="-122"/>
                <a:cs typeface="Yu Gothic" pitchFamily="34" charset="-120"/>
              </a:rPr>
              <a:t>化学構造</a:t>
            </a:r>
            <a:endParaRPr lang="en-US" sz="1200" dirty="0"/>
          </a:p>
          <a:p>
            <a:pPr algn="ctr" indent="0" marL="0">
              <a:buNone/>
            </a:pPr>
            <a:r>
              <a:rPr lang="en-US" sz="1200" b="1" dirty="0">
                <a:solidFill>
                  <a:srgbClr val="12385B"/>
                </a:solidFill>
                <a:latin typeface="Yu Gothic" pitchFamily="34" charset="0"/>
                <a:ea typeface="Yu Gothic" pitchFamily="34" charset="-122"/>
                <a:cs typeface="Yu Gothic" pitchFamily="34" charset="-120"/>
              </a:rPr>
              <a:t>(SMILES)</a:t>
            </a:r>
            <a:endParaRPr lang="en-US" sz="1200" dirty="0"/>
          </a:p>
        </p:txBody>
      </p:sp>
      <p:sp>
        <p:nvSpPr>
          <p:cNvPr id="9" name="Shape 7"/>
          <p:cNvSpPr/>
          <p:nvPr/>
        </p:nvSpPr>
        <p:spPr>
          <a:xfrm>
            <a:off x="8439912" y="2926080"/>
            <a:ext cx="219456" cy="228600"/>
          </a:xfrm>
          <a:prstGeom prst="downArrow">
            <a:avLst/>
          </a:prstGeom>
          <a:solidFill>
            <a:srgbClr val="1779BA"/>
          </a:solidFill>
          <a:ln/>
        </p:spPr>
      </p:sp>
      <p:sp>
        <p:nvSpPr>
          <p:cNvPr id="10" name="Shape 8"/>
          <p:cNvSpPr/>
          <p:nvPr/>
        </p:nvSpPr>
        <p:spPr>
          <a:xfrm>
            <a:off x="7680960" y="3154680"/>
            <a:ext cx="1737360" cy="822960"/>
          </a:xfrm>
          <a:prstGeom prst="rect">
            <a:avLst/>
          </a:prstGeom>
          <a:solidFill>
            <a:srgbClr val="EEF5F9"/>
          </a:solidFill>
          <a:ln/>
        </p:spPr>
      </p:sp>
      <p:sp>
        <p:nvSpPr>
          <p:cNvPr id="11" name="Text 9"/>
          <p:cNvSpPr/>
          <p:nvPr/>
        </p:nvSpPr>
        <p:spPr>
          <a:xfrm>
            <a:off x="7726680" y="3154680"/>
            <a:ext cx="1645920" cy="822960"/>
          </a:xfrm>
          <a:prstGeom prst="rect">
            <a:avLst/>
          </a:prstGeom>
          <a:noFill/>
          <a:ln/>
        </p:spPr>
        <p:txBody>
          <a:bodyPr wrap="square" lIns="0" tIns="0" rIns="0" bIns="0" rtlCol="0" anchor="ctr"/>
          <a:lstStyle/>
          <a:p>
            <a:pPr algn="ctr" indent="0" marL="0">
              <a:buNone/>
            </a:pPr>
            <a:r>
              <a:rPr lang="en-US" sz="1200" b="1" dirty="0">
                <a:solidFill>
                  <a:srgbClr val="12385B"/>
                </a:solidFill>
                <a:latin typeface="Yu Gothic" pitchFamily="34" charset="0"/>
                <a:ea typeface="Yu Gothic" pitchFamily="34" charset="-122"/>
                <a:cs typeface="Yu Gothic" pitchFamily="34" charset="-120"/>
              </a:rPr>
              <a:t>ML予測</a:t>
            </a:r>
            <a:endParaRPr lang="en-US" sz="1200" dirty="0"/>
          </a:p>
          <a:p>
            <a:pPr algn="ctr" indent="0" marL="0">
              <a:buNone/>
            </a:pPr>
            <a:r>
              <a:rPr lang="en-US" sz="1200" b="1" dirty="0">
                <a:solidFill>
                  <a:srgbClr val="12385B"/>
                </a:solidFill>
                <a:latin typeface="Yu Gothic" pitchFamily="34" charset="0"/>
                <a:ea typeface="Yu Gothic" pitchFamily="34" charset="-122"/>
                <a:cs typeface="Yu Gothic" pitchFamily="34" charset="-120"/>
              </a:rPr>
              <a:t>(RF/DNN)</a:t>
            </a:r>
            <a:endParaRPr lang="en-US" sz="1200" dirty="0"/>
          </a:p>
        </p:txBody>
      </p:sp>
      <p:sp>
        <p:nvSpPr>
          <p:cNvPr id="12" name="Shape 10"/>
          <p:cNvSpPr/>
          <p:nvPr/>
        </p:nvSpPr>
        <p:spPr>
          <a:xfrm>
            <a:off x="8439912" y="3977640"/>
            <a:ext cx="219456" cy="228600"/>
          </a:xfrm>
          <a:prstGeom prst="downArrow">
            <a:avLst/>
          </a:prstGeom>
          <a:solidFill>
            <a:srgbClr val="1779BA"/>
          </a:solidFill>
          <a:ln/>
        </p:spPr>
      </p:sp>
      <p:sp>
        <p:nvSpPr>
          <p:cNvPr id="13" name="Shape 11"/>
          <p:cNvSpPr/>
          <p:nvPr/>
        </p:nvSpPr>
        <p:spPr>
          <a:xfrm>
            <a:off x="7680960" y="4206240"/>
            <a:ext cx="1737360" cy="822960"/>
          </a:xfrm>
          <a:prstGeom prst="rect">
            <a:avLst/>
          </a:prstGeom>
          <a:solidFill>
            <a:srgbClr val="DCEEF7"/>
          </a:solidFill>
          <a:ln/>
        </p:spPr>
      </p:sp>
      <p:sp>
        <p:nvSpPr>
          <p:cNvPr id="14" name="Text 12"/>
          <p:cNvSpPr/>
          <p:nvPr/>
        </p:nvSpPr>
        <p:spPr>
          <a:xfrm>
            <a:off x="7726680" y="4206240"/>
            <a:ext cx="1645920" cy="822960"/>
          </a:xfrm>
          <a:prstGeom prst="rect">
            <a:avLst/>
          </a:prstGeom>
          <a:noFill/>
          <a:ln/>
        </p:spPr>
        <p:txBody>
          <a:bodyPr wrap="square" lIns="0" tIns="0" rIns="0" bIns="0" rtlCol="0" anchor="ctr"/>
          <a:lstStyle/>
          <a:p>
            <a:pPr algn="ctr" indent="0" marL="0">
              <a:buNone/>
            </a:pPr>
            <a:r>
              <a:rPr lang="en-US" sz="1200" b="1" dirty="0">
                <a:solidFill>
                  <a:srgbClr val="12385B"/>
                </a:solidFill>
                <a:latin typeface="Yu Gothic" pitchFamily="34" charset="0"/>
                <a:ea typeface="Yu Gothic" pitchFamily="34" charset="-122"/>
                <a:cs typeface="Yu Gothic" pitchFamily="34" charset="-120"/>
              </a:rPr>
              <a:t>スクリーニング</a:t>
            </a:r>
            <a:endParaRPr lang="en-US" sz="1200" dirty="0"/>
          </a:p>
          <a:p>
            <a:pPr algn="ctr" indent="0" marL="0">
              <a:buNone/>
            </a:pPr>
            <a:r>
              <a:rPr lang="en-US" sz="1200" b="1" dirty="0">
                <a:solidFill>
                  <a:srgbClr val="12385B"/>
                </a:solidFill>
                <a:latin typeface="Yu Gothic" pitchFamily="34" charset="0"/>
                <a:ea typeface="Yu Gothic" pitchFamily="34" charset="-122"/>
                <a:cs typeface="Yu Gothic" pitchFamily="34" charset="-120"/>
              </a:rPr>
              <a:t>(900万種超)</a:t>
            </a:r>
            <a:endParaRPr lang="en-US" sz="1200" dirty="0"/>
          </a:p>
        </p:txBody>
      </p:sp>
      <p:sp>
        <p:nvSpPr>
          <p:cNvPr id="15" name="Shape 13"/>
          <p:cNvSpPr/>
          <p:nvPr/>
        </p:nvSpPr>
        <p:spPr>
          <a:xfrm>
            <a:off x="8439912" y="5029200"/>
            <a:ext cx="219456" cy="228600"/>
          </a:xfrm>
          <a:prstGeom prst="downArrow">
            <a:avLst/>
          </a:prstGeom>
          <a:solidFill>
            <a:srgbClr val="1779BA"/>
          </a:solidFill>
          <a:ln/>
        </p:spPr>
      </p:sp>
      <p:sp>
        <p:nvSpPr>
          <p:cNvPr id="16" name="Shape 14"/>
          <p:cNvSpPr/>
          <p:nvPr/>
        </p:nvSpPr>
        <p:spPr>
          <a:xfrm>
            <a:off x="7680960" y="5257800"/>
            <a:ext cx="1737360" cy="822960"/>
          </a:xfrm>
          <a:prstGeom prst="rect">
            <a:avLst/>
          </a:prstGeom>
          <a:solidFill>
            <a:srgbClr val="EEF5F9"/>
          </a:solidFill>
          <a:ln/>
        </p:spPr>
      </p:sp>
      <p:sp>
        <p:nvSpPr>
          <p:cNvPr id="17" name="Text 15"/>
          <p:cNvSpPr/>
          <p:nvPr/>
        </p:nvSpPr>
        <p:spPr>
          <a:xfrm>
            <a:off x="7726680" y="5257800"/>
            <a:ext cx="1645920" cy="822960"/>
          </a:xfrm>
          <a:prstGeom prst="rect">
            <a:avLst/>
          </a:prstGeom>
          <a:noFill/>
          <a:ln/>
        </p:spPr>
        <p:txBody>
          <a:bodyPr wrap="square" lIns="0" tIns="0" rIns="0" bIns="0" rtlCol="0" anchor="ctr"/>
          <a:lstStyle/>
          <a:p>
            <a:pPr algn="ctr" indent="0" marL="0">
              <a:buNone/>
            </a:pPr>
            <a:r>
              <a:rPr lang="en-US" sz="1200" b="1" dirty="0">
                <a:solidFill>
                  <a:srgbClr val="12385B"/>
                </a:solidFill>
                <a:latin typeface="Yu Gothic" pitchFamily="34" charset="0"/>
                <a:ea typeface="Yu Gothic" pitchFamily="34" charset="-122"/>
                <a:cs typeface="Yu Gothic" pitchFamily="34" charset="-120"/>
              </a:rPr>
              <a:t>MD検証</a:t>
            </a:r>
            <a:endParaRPr lang="en-US" sz="1200" dirty="0"/>
          </a:p>
        </p:txBody>
      </p:sp>
      <p:sp>
        <p:nvSpPr>
          <p:cNvPr id="18" name="Shape 16"/>
          <p:cNvSpPr/>
          <p:nvPr/>
        </p:nvSpPr>
        <p:spPr>
          <a:xfrm>
            <a:off x="457200" y="6355080"/>
            <a:ext cx="11277295" cy="0"/>
          </a:xfrm>
          <a:prstGeom prst="line">
            <a:avLst/>
          </a:prstGeom>
          <a:noFill/>
          <a:ln w="9525">
            <a:solidFill>
              <a:srgbClr val="D5DEE7"/>
            </a:solidFill>
            <a:prstDash val="solid"/>
          </a:ln>
        </p:spPr>
      </p:sp>
      <p:sp>
        <p:nvSpPr>
          <p:cNvPr id="19" name="Text 17"/>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Yang et al., Machine learning enables interpretable discovery of innovative polymers for gas separation membranes. Sci. Adv. 8, eabn9545 (2022).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3</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研究背景と解決したい課題</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ガス分離膜には透過性と選択性のトレードオフ（Robeson upper bound）があり、新材料設計は経験と試行錯誤に依存してきた</a:t>
            </a:r>
            <a:endParaRPr lang="en-US" sz="1800" dirty="0"/>
          </a:p>
        </p:txBody>
      </p:sp>
      <p:sp>
        <p:nvSpPr>
          <p:cNvPr id="6" name="Text 4"/>
          <p:cNvSpPr/>
          <p:nvPr/>
        </p:nvSpPr>
        <p:spPr>
          <a:xfrm>
            <a:off x="457200" y="1965960"/>
            <a:ext cx="6675120" cy="42062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ポリマー膜は炭素回収・酸素富化・水処理など気候変動対策と環境保全に重要な分離技術</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透過性↑と選択性↑は伝統的にトレードオフ関係にあり、Robeson upper bound（1991→2008→2015/2019年改訂）として定量化されている</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新材料の設計は化学的直感に基づく試行錯誤（Edisonian approach）が中心で、体系的な指針が乏しい</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MC/MDシミュレーションは高精度だが計算コストが高く、広大な化学空間（10^6〜10^10通り）の探索は非現実的</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群寄与法など簡易近似は低コストだが、結合の連結性を考慮できず新しいポリマークラスへ拡張できない</a:t>
            </a:r>
            <a:endParaRPr lang="en-US" sz="1200" dirty="0"/>
          </a:p>
        </p:txBody>
      </p:sp>
      <p:sp>
        <p:nvSpPr>
          <p:cNvPr id="7" name="Shape 5"/>
          <p:cNvSpPr/>
          <p:nvPr/>
        </p:nvSpPr>
        <p:spPr>
          <a:xfrm>
            <a:off x="7772400" y="2103120"/>
            <a:ext cx="0" cy="3291840"/>
          </a:xfrm>
          <a:prstGeom prst="line">
            <a:avLst/>
          </a:prstGeom>
          <a:noFill/>
          <a:ln w="19050">
            <a:solidFill>
              <a:srgbClr val="A9B8C8"/>
            </a:solidFill>
            <a:prstDash val="solid"/>
          </a:ln>
        </p:spPr>
      </p:sp>
      <p:sp>
        <p:nvSpPr>
          <p:cNvPr id="8" name="Shape 6"/>
          <p:cNvSpPr/>
          <p:nvPr/>
        </p:nvSpPr>
        <p:spPr>
          <a:xfrm>
            <a:off x="7772400" y="5394960"/>
            <a:ext cx="3657600" cy="0"/>
          </a:xfrm>
          <a:prstGeom prst="line">
            <a:avLst/>
          </a:prstGeom>
          <a:noFill/>
          <a:ln w="19050">
            <a:solidFill>
              <a:srgbClr val="A9B8C8"/>
            </a:solidFill>
            <a:prstDash val="solid"/>
          </a:ln>
        </p:spPr>
      </p:sp>
      <p:sp>
        <p:nvSpPr>
          <p:cNvPr id="9" name="Text 7"/>
          <p:cNvSpPr/>
          <p:nvPr/>
        </p:nvSpPr>
        <p:spPr>
          <a:xfrm>
            <a:off x="7726680" y="1783080"/>
            <a:ext cx="1097280" cy="27432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選択性</a:t>
            </a:r>
            <a:endParaRPr lang="en-US" sz="1000" dirty="0"/>
          </a:p>
        </p:txBody>
      </p:sp>
      <p:sp>
        <p:nvSpPr>
          <p:cNvPr id="10" name="Text 8"/>
          <p:cNvSpPr/>
          <p:nvPr/>
        </p:nvSpPr>
        <p:spPr>
          <a:xfrm>
            <a:off x="10881360" y="5440680"/>
            <a:ext cx="640080" cy="228600"/>
          </a:xfrm>
          <a:prstGeom prst="rect">
            <a:avLst/>
          </a:prstGeom>
          <a:noFill/>
          <a:ln/>
        </p:spPr>
        <p:txBody>
          <a:bodyPr wrap="square" lIns="0" tIns="0" rIns="0" bIns="0" rtlCol="0" anchor="ctr"/>
          <a:lstStyle/>
          <a:p>
            <a:pPr indent="0" marL="0">
              <a:buNone/>
            </a:pPr>
            <a:r>
              <a:rPr lang="en-US" sz="1000" dirty="0">
                <a:solidFill>
                  <a:srgbClr val="607089"/>
                </a:solidFill>
                <a:latin typeface="Yu Gothic" pitchFamily="34" charset="0"/>
                <a:ea typeface="Yu Gothic" pitchFamily="34" charset="-122"/>
                <a:cs typeface="Yu Gothic" pitchFamily="34" charset="-120"/>
              </a:rPr>
              <a:t>透過性</a:t>
            </a:r>
            <a:endParaRPr lang="en-US" sz="1000" dirty="0"/>
          </a:p>
        </p:txBody>
      </p:sp>
      <p:sp>
        <p:nvSpPr>
          <p:cNvPr id="11" name="Shape 9"/>
          <p:cNvSpPr/>
          <p:nvPr/>
        </p:nvSpPr>
        <p:spPr>
          <a:xfrm>
            <a:off x="7909560" y="2331720"/>
            <a:ext cx="3200400" cy="2377440"/>
          </a:xfrm>
          <a:prstGeom prst="line">
            <a:avLst/>
          </a:prstGeom>
          <a:noFill/>
          <a:ln w="25400">
            <a:solidFill>
              <a:srgbClr val="E84A5F"/>
            </a:solidFill>
            <a:prstDash val="dash"/>
          </a:ln>
        </p:spPr>
      </p:sp>
      <p:sp>
        <p:nvSpPr>
          <p:cNvPr id="12" name="Text 10"/>
          <p:cNvSpPr/>
          <p:nvPr/>
        </p:nvSpPr>
        <p:spPr>
          <a:xfrm>
            <a:off x="8229600" y="2240280"/>
            <a:ext cx="2377440" cy="274320"/>
          </a:xfrm>
          <a:prstGeom prst="rect">
            <a:avLst/>
          </a:prstGeom>
          <a:noFill/>
          <a:ln/>
        </p:spPr>
        <p:txBody>
          <a:bodyPr wrap="square" lIns="0" tIns="0" rIns="0" bIns="0" rtlCol="0" anchor="ctr"/>
          <a:lstStyle/>
          <a:p>
            <a:pPr indent="0" marL="0">
              <a:buNone/>
            </a:pPr>
            <a:r>
              <a:rPr lang="en-US" sz="1000" dirty="0">
                <a:solidFill>
                  <a:srgbClr val="E84A5F"/>
                </a:solidFill>
                <a:latin typeface="Yu Gothic" pitchFamily="34" charset="0"/>
                <a:ea typeface="Yu Gothic" pitchFamily="34" charset="-122"/>
                <a:cs typeface="Yu Gothic" pitchFamily="34" charset="-120"/>
              </a:rPr>
              <a:t>Robeson upper bound</a:t>
            </a:r>
            <a:endParaRPr lang="en-US" sz="1000" dirty="0"/>
          </a:p>
        </p:txBody>
      </p:sp>
      <p:sp>
        <p:nvSpPr>
          <p:cNvPr id="13" name="Text 11"/>
          <p:cNvSpPr/>
          <p:nvPr/>
        </p:nvSpPr>
        <p:spPr>
          <a:xfrm>
            <a:off x="7772400" y="5715000"/>
            <a:ext cx="3657600" cy="274320"/>
          </a:xfrm>
          <a:prstGeom prst="rect">
            <a:avLst/>
          </a:prstGeom>
          <a:noFill/>
          <a:ln/>
        </p:spPr>
        <p:txBody>
          <a:bodyPr wrap="square" lIns="0" tIns="0" rIns="0" bIns="0" rtlCol="0" anchor="ctr"/>
          <a:lstStyle/>
          <a:p>
            <a:pPr algn="ctr" indent="0" marL="0">
              <a:buNone/>
            </a:pPr>
            <a:r>
              <a:rPr lang="en-US" sz="1000" dirty="0">
                <a:solidFill>
                  <a:srgbClr val="607089"/>
                </a:solidFill>
                <a:latin typeface="Yu Gothic" pitchFamily="34" charset="0"/>
                <a:ea typeface="Yu Gothic" pitchFamily="34" charset="-122"/>
                <a:cs typeface="Yu Gothic" pitchFamily="34" charset="-120"/>
              </a:rPr>
              <a:t>トレードオフ関係（概念図）</a:t>
            </a:r>
            <a:endParaRPr lang="en-US" sz="1000" dirty="0"/>
          </a:p>
        </p:txBody>
      </p:sp>
      <p:sp>
        <p:nvSpPr>
          <p:cNvPr id="14" name="Text 12"/>
          <p:cNvSpPr/>
          <p:nvPr/>
        </p:nvSpPr>
        <p:spPr>
          <a:xfrm>
            <a:off x="7772400" y="5989320"/>
            <a:ext cx="3657600" cy="274320"/>
          </a:xfrm>
          <a:prstGeom prst="rect">
            <a:avLst/>
          </a:prstGeom>
          <a:noFill/>
          <a:ln/>
        </p:spPr>
        <p:txBody>
          <a:bodyPr wrap="square" lIns="0" tIns="0" rIns="0" bIns="0" rtlCol="0" anchor="ctr"/>
          <a:lstStyle/>
          <a:p>
            <a:pPr algn="ctr" indent="0" marL="0">
              <a:buNone/>
            </a:pPr>
            <a:r>
              <a:rPr lang="en-US" sz="1000" dirty="0">
                <a:solidFill>
                  <a:srgbClr val="607089"/>
                </a:solidFill>
                <a:latin typeface="Yu Gothic" pitchFamily="34" charset="0"/>
                <a:ea typeface="Yu Gothic" pitchFamily="34" charset="-122"/>
                <a:cs typeface="Yu Gothic" pitchFamily="34" charset="-120"/>
              </a:rPr>
              <a:t>※ 定量的な散布図は原図 Fig. 2 参照</a:t>
            </a:r>
            <a:endParaRPr lang="en-US" sz="1000" dirty="0"/>
          </a:p>
        </p:txBody>
      </p:sp>
      <p:sp>
        <p:nvSpPr>
          <p:cNvPr id="15" name="Shape 13"/>
          <p:cNvSpPr/>
          <p:nvPr/>
        </p:nvSpPr>
        <p:spPr>
          <a:xfrm>
            <a:off x="457200" y="6355080"/>
            <a:ext cx="11277295" cy="0"/>
          </a:xfrm>
          <a:prstGeom prst="line">
            <a:avLst/>
          </a:prstGeom>
          <a:noFill/>
          <a:ln w="9525">
            <a:solidFill>
              <a:srgbClr val="D5DEE7"/>
            </a:solidFill>
            <a:prstDash val="solid"/>
          </a:ln>
        </p:spPr>
      </p:sp>
      <p:sp>
        <p:nvSpPr>
          <p:cNvPr id="16" name="Text 14"/>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Yang et al., Machine learning enables interpretable discovery of innovative polymers for gas separation membranes. Sci. Adv. 8, eabn9545 (2022).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4</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先行研究との違い・新規性</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PIMsを含む学習データと900万種超への拡張スクリーニング、SHAPによる解釈性・MD検証までを一気通貫で統合</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11277295" cy="2926080"/>
        </p:xfrm>
        <a:graphic>
          <a:graphicData uri="http://schemas.openxmlformats.org/drawingml/2006/table">
            <a:tbl>
              <a:tblPr/>
              <a:tblGrid>
                <a:gridCol w="2377440"/>
                <a:gridCol w="3840480"/>
                <a:gridCol w="5056632"/>
              </a:tblGrid>
              <a:tr h="585216">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項目</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Barnett et al. (39)</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本研究</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r>
              <a:tr h="585216">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学習データ</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PIMsを含まない</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PIMsを含む353種のホモポリマー（dataset A）</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585216">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スクリーニング空間</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既存ポリマー約11,000種</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仮想ポリマー900万種超（dataset B, C, D）</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585216">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モデルの解釈性</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原文に記載なし（未確認）</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SHAP解析により化学的特徴の寄与を定量化</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585216">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性能検証</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原文に記載なし（未確認）</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高精度MDシミュレーションで上位候補を検証</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5212080"/>
            <a:ext cx="11277295" cy="9144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本研究は、PIMs（intrinsic microporosity材料）を含む多様な学習データと、化学的に妥当な合成経路（PubChem由来の実在するジアミン/ジイソシアネートとジ無水物の組み合わせ）に基づく大規模仮想スクリーニングを両立している点が特徴</a:t>
            </a:r>
            <a:endParaRPr lang="en-US" sz="1200" dirty="0"/>
          </a:p>
        </p:txBody>
      </p:sp>
      <p:sp>
        <p:nvSpPr>
          <p:cNvPr id="8" name="Shape 5"/>
          <p:cNvSpPr/>
          <p:nvPr/>
        </p:nvSpPr>
        <p:spPr>
          <a:xfrm>
            <a:off x="457200" y="6355080"/>
            <a:ext cx="11277295" cy="0"/>
          </a:xfrm>
          <a:prstGeom prst="line">
            <a:avLst/>
          </a:prstGeom>
          <a:noFill/>
          <a:ln w="9525">
            <a:solidFill>
              <a:srgbClr val="D5DEE7"/>
            </a:solidFill>
            <a:prstDash val="solid"/>
          </a:ln>
        </p:spPr>
      </p:sp>
      <p:sp>
        <p:nvSpPr>
          <p:cNvPr id="9" name="Text 6"/>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Yang et al., Machine learning enables interpretable discovery of innovative polymers for gas separation membranes. Sci. Adv. 8, eabn9545 (2022).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5</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手法・アプローチの全体像</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SMILES文字列を起点に、化学表現の生成、マルチタスクML学習、大規模スクリーニング、MD検証までの5段階ワークフロー（Fig. 1）</a:t>
            </a:r>
            <a:endParaRPr lang="en-US" sz="1800" dirty="0"/>
          </a:p>
        </p:txBody>
      </p:sp>
      <p:sp>
        <p:nvSpPr>
          <p:cNvPr id="6" name="Shape 4"/>
          <p:cNvSpPr/>
          <p:nvPr/>
        </p:nvSpPr>
        <p:spPr>
          <a:xfrm>
            <a:off x="457200" y="2194560"/>
            <a:ext cx="457200" cy="457200"/>
          </a:xfrm>
          <a:prstGeom prst="ellipse">
            <a:avLst/>
          </a:prstGeom>
          <a:solidFill>
            <a:srgbClr val="1779BA"/>
          </a:solidFill>
          <a:ln/>
        </p:spPr>
      </p:sp>
      <p:sp>
        <p:nvSpPr>
          <p:cNvPr id="7" name="Text 5"/>
          <p:cNvSpPr/>
          <p:nvPr/>
        </p:nvSpPr>
        <p:spPr>
          <a:xfrm>
            <a:off x="45720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8" name="Shape 6"/>
          <p:cNvSpPr/>
          <p:nvPr/>
        </p:nvSpPr>
        <p:spPr>
          <a:xfrm>
            <a:off x="1097280" y="2148840"/>
            <a:ext cx="2377440" cy="566928"/>
          </a:xfrm>
          <a:prstGeom prst="rect">
            <a:avLst/>
          </a:prstGeom>
          <a:solidFill>
            <a:srgbClr val="DCEEF7"/>
          </a:solidFill>
          <a:ln/>
        </p:spPr>
      </p:sp>
      <p:sp>
        <p:nvSpPr>
          <p:cNvPr id="9" name="Text 7"/>
          <p:cNvSpPr/>
          <p:nvPr/>
        </p:nvSpPr>
        <p:spPr>
          <a:xfrm>
            <a:off x="1143000" y="2148840"/>
            <a:ext cx="2286000" cy="566928"/>
          </a:xfrm>
          <a:prstGeom prst="rect">
            <a:avLst/>
          </a:prstGeom>
          <a:noFill/>
          <a:ln/>
        </p:spPr>
        <p:txBody>
          <a:bodyPr wrap="square" lIns="0" tIns="0" rIns="0" bIns="0" rtlCol="0" anchor="ctr"/>
          <a:lstStyle/>
          <a:p>
            <a:pPr algn="l" indent="0" marL="0">
              <a:buNone/>
            </a:pPr>
            <a:r>
              <a:rPr lang="en-US" sz="1400" b="1" dirty="0">
                <a:solidFill>
                  <a:srgbClr val="12385B"/>
                </a:solidFill>
                <a:latin typeface="Yu Gothic" pitchFamily="34" charset="0"/>
                <a:ea typeface="Yu Gothic" pitchFamily="34" charset="-122"/>
                <a:cs typeface="Yu Gothic" pitchFamily="34" charset="-120"/>
              </a:rPr>
              <a:t>SMILES取得</a:t>
            </a:r>
            <a:endParaRPr lang="en-US" sz="1400" dirty="0"/>
          </a:p>
        </p:txBody>
      </p:sp>
      <p:sp>
        <p:nvSpPr>
          <p:cNvPr id="10" name="Text 8"/>
          <p:cNvSpPr/>
          <p:nvPr/>
        </p:nvSpPr>
        <p:spPr>
          <a:xfrm>
            <a:off x="3703320" y="2148840"/>
            <a:ext cx="8122615" cy="566928"/>
          </a:xfrm>
          <a:prstGeom prst="rect">
            <a:avLst/>
          </a:prstGeom>
          <a:noFill/>
          <a:ln/>
        </p:spPr>
        <p:txBody>
          <a:bodyPr wrap="square" lIns="0" tIns="0" rIns="0" bIns="0" rtlCol="0" anchor="ctr"/>
          <a:lstStyle/>
          <a:p>
            <a:pPr indent="0" marL="0">
              <a:buNone/>
            </a:pPr>
            <a:r>
              <a:rPr lang="en-US" sz="1200" dirty="0">
                <a:solidFill>
                  <a:srgbClr val="182235"/>
                </a:solidFill>
                <a:latin typeface="Yu Gothic" pitchFamily="34" charset="0"/>
                <a:ea typeface="Yu Gothic" pitchFamily="34" charset="-122"/>
                <a:cs typeface="Yu Gothic" pitchFamily="34" charset="-120"/>
              </a:rPr>
              <a:t>ポリマー繰返し単位のSMILES文字列と既知のガス透過性を取得</a:t>
            </a:r>
            <a:endParaRPr lang="en-US" sz="1200" dirty="0"/>
          </a:p>
        </p:txBody>
      </p:sp>
      <p:sp>
        <p:nvSpPr>
          <p:cNvPr id="11" name="Shape 9"/>
          <p:cNvSpPr/>
          <p:nvPr/>
        </p:nvSpPr>
        <p:spPr>
          <a:xfrm>
            <a:off x="630936" y="2679192"/>
            <a:ext cx="109728" cy="246888"/>
          </a:xfrm>
          <a:prstGeom prst="downArrow">
            <a:avLst/>
          </a:prstGeom>
          <a:solidFill>
            <a:srgbClr val="A9B8C8"/>
          </a:solidFill>
          <a:ln/>
        </p:spPr>
      </p:sp>
      <p:sp>
        <p:nvSpPr>
          <p:cNvPr id="12" name="Shape 10"/>
          <p:cNvSpPr/>
          <p:nvPr/>
        </p:nvSpPr>
        <p:spPr>
          <a:xfrm>
            <a:off x="457200" y="2971800"/>
            <a:ext cx="457200" cy="457200"/>
          </a:xfrm>
          <a:prstGeom prst="ellipse">
            <a:avLst/>
          </a:prstGeom>
          <a:solidFill>
            <a:srgbClr val="1779BA"/>
          </a:solidFill>
          <a:ln/>
        </p:spPr>
      </p:sp>
      <p:sp>
        <p:nvSpPr>
          <p:cNvPr id="13" name="Text 11"/>
          <p:cNvSpPr/>
          <p:nvPr/>
        </p:nvSpPr>
        <p:spPr>
          <a:xfrm>
            <a:off x="457200" y="2971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4" name="Shape 12"/>
          <p:cNvSpPr/>
          <p:nvPr/>
        </p:nvSpPr>
        <p:spPr>
          <a:xfrm>
            <a:off x="1097280" y="2926080"/>
            <a:ext cx="2377440" cy="566928"/>
          </a:xfrm>
          <a:prstGeom prst="rect">
            <a:avLst/>
          </a:prstGeom>
          <a:solidFill>
            <a:srgbClr val="DCEEF7"/>
          </a:solidFill>
          <a:ln/>
        </p:spPr>
      </p:sp>
      <p:sp>
        <p:nvSpPr>
          <p:cNvPr id="15" name="Text 13"/>
          <p:cNvSpPr/>
          <p:nvPr/>
        </p:nvSpPr>
        <p:spPr>
          <a:xfrm>
            <a:off x="1143000" y="2926080"/>
            <a:ext cx="2286000" cy="566928"/>
          </a:xfrm>
          <a:prstGeom prst="rect">
            <a:avLst/>
          </a:prstGeom>
          <a:noFill/>
          <a:ln/>
        </p:spPr>
        <p:txBody>
          <a:bodyPr wrap="square" lIns="0" tIns="0" rIns="0" bIns="0" rtlCol="0" anchor="ctr"/>
          <a:lstStyle/>
          <a:p>
            <a:pPr algn="l" indent="0" marL="0">
              <a:buNone/>
            </a:pPr>
            <a:r>
              <a:rPr lang="en-US" sz="1400" b="1" dirty="0">
                <a:solidFill>
                  <a:srgbClr val="12385B"/>
                </a:solidFill>
                <a:latin typeface="Yu Gothic" pitchFamily="34" charset="0"/>
                <a:ea typeface="Yu Gothic" pitchFamily="34" charset="-122"/>
                <a:cs typeface="Yu Gothic" pitchFamily="34" charset="-120"/>
              </a:rPr>
              <a:t>化学表現の生成</a:t>
            </a:r>
            <a:endParaRPr lang="en-US" sz="1400" dirty="0"/>
          </a:p>
        </p:txBody>
      </p:sp>
      <p:sp>
        <p:nvSpPr>
          <p:cNvPr id="16" name="Text 14"/>
          <p:cNvSpPr/>
          <p:nvPr/>
        </p:nvSpPr>
        <p:spPr>
          <a:xfrm>
            <a:off x="3703320" y="2926080"/>
            <a:ext cx="8122615" cy="566928"/>
          </a:xfrm>
          <a:prstGeom prst="rect">
            <a:avLst/>
          </a:prstGeom>
          <a:noFill/>
          <a:ln/>
        </p:spPr>
        <p:txBody>
          <a:bodyPr wrap="square" lIns="0" tIns="0" rIns="0" bIns="0" rtlCol="0" anchor="ctr"/>
          <a:lstStyle/>
          <a:p>
            <a:pPr indent="0" marL="0">
              <a:buNone/>
            </a:pPr>
            <a:r>
              <a:rPr lang="en-US" sz="1200" dirty="0">
                <a:solidFill>
                  <a:srgbClr val="182235"/>
                </a:solidFill>
                <a:latin typeface="Yu Gothic" pitchFamily="34" charset="0"/>
                <a:ea typeface="Yu Gothic" pitchFamily="34" charset="-122"/>
                <a:cs typeface="Yu Gothic" pitchFamily="34" charset="-120"/>
              </a:rPr>
              <a:t>RDKitで分子記述子（D=146）とMorgan fingerprint with frequency: MFF（D=114）を算出</a:t>
            </a:r>
            <a:endParaRPr lang="en-US" sz="1200" dirty="0"/>
          </a:p>
        </p:txBody>
      </p:sp>
      <p:sp>
        <p:nvSpPr>
          <p:cNvPr id="17" name="Shape 15"/>
          <p:cNvSpPr/>
          <p:nvPr/>
        </p:nvSpPr>
        <p:spPr>
          <a:xfrm>
            <a:off x="630936" y="3456432"/>
            <a:ext cx="109728" cy="246888"/>
          </a:xfrm>
          <a:prstGeom prst="downArrow">
            <a:avLst/>
          </a:prstGeom>
          <a:solidFill>
            <a:srgbClr val="A9B8C8"/>
          </a:solidFill>
          <a:ln/>
        </p:spPr>
      </p:sp>
      <p:sp>
        <p:nvSpPr>
          <p:cNvPr id="18" name="Shape 16"/>
          <p:cNvSpPr/>
          <p:nvPr/>
        </p:nvSpPr>
        <p:spPr>
          <a:xfrm>
            <a:off x="457200" y="3749040"/>
            <a:ext cx="457200" cy="457200"/>
          </a:xfrm>
          <a:prstGeom prst="ellipse">
            <a:avLst/>
          </a:prstGeom>
          <a:solidFill>
            <a:srgbClr val="1779BA"/>
          </a:solidFill>
          <a:ln/>
        </p:spPr>
      </p:sp>
      <p:sp>
        <p:nvSpPr>
          <p:cNvPr id="19" name="Text 17"/>
          <p:cNvSpPr/>
          <p:nvPr/>
        </p:nvSpPr>
        <p:spPr>
          <a:xfrm>
            <a:off x="457200" y="3749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20" name="Shape 18"/>
          <p:cNvSpPr/>
          <p:nvPr/>
        </p:nvSpPr>
        <p:spPr>
          <a:xfrm>
            <a:off x="1097280" y="3703320"/>
            <a:ext cx="2377440" cy="566928"/>
          </a:xfrm>
          <a:prstGeom prst="rect">
            <a:avLst/>
          </a:prstGeom>
          <a:solidFill>
            <a:srgbClr val="DCEEF7"/>
          </a:solidFill>
          <a:ln/>
        </p:spPr>
      </p:sp>
      <p:sp>
        <p:nvSpPr>
          <p:cNvPr id="21" name="Text 19"/>
          <p:cNvSpPr/>
          <p:nvPr/>
        </p:nvSpPr>
        <p:spPr>
          <a:xfrm>
            <a:off x="1143000" y="3703320"/>
            <a:ext cx="2286000" cy="566928"/>
          </a:xfrm>
          <a:prstGeom prst="rect">
            <a:avLst/>
          </a:prstGeom>
          <a:noFill/>
          <a:ln/>
        </p:spPr>
        <p:txBody>
          <a:bodyPr wrap="square" lIns="0" tIns="0" rIns="0" bIns="0" rtlCol="0" anchor="ctr"/>
          <a:lstStyle/>
          <a:p>
            <a:pPr algn="l" indent="0" marL="0">
              <a:buNone/>
            </a:pPr>
            <a:r>
              <a:rPr lang="en-US" sz="1400" b="1" dirty="0">
                <a:solidFill>
                  <a:srgbClr val="12385B"/>
                </a:solidFill>
                <a:latin typeface="Yu Gothic" pitchFamily="34" charset="0"/>
                <a:ea typeface="Yu Gothic" pitchFamily="34" charset="-122"/>
                <a:cs typeface="Yu Gothic" pitchFamily="34" charset="-120"/>
              </a:rPr>
              <a:t>マルチタスクML学習</a:t>
            </a:r>
            <a:endParaRPr lang="en-US" sz="1400" dirty="0"/>
          </a:p>
        </p:txBody>
      </p:sp>
      <p:sp>
        <p:nvSpPr>
          <p:cNvPr id="22" name="Text 20"/>
          <p:cNvSpPr/>
          <p:nvPr/>
        </p:nvSpPr>
        <p:spPr>
          <a:xfrm>
            <a:off x="3703320" y="3703320"/>
            <a:ext cx="8122615" cy="566928"/>
          </a:xfrm>
          <a:prstGeom prst="rect">
            <a:avLst/>
          </a:prstGeom>
          <a:noFill/>
          <a:ln/>
        </p:spPr>
        <p:txBody>
          <a:bodyPr wrap="square" lIns="0" tIns="0" rIns="0" bIns="0" rtlCol="0" anchor="ctr"/>
          <a:lstStyle/>
          <a:p>
            <a:pPr indent="0" marL="0">
              <a:buNone/>
            </a:pPr>
            <a:r>
              <a:rPr lang="en-US" sz="1200" dirty="0">
                <a:solidFill>
                  <a:srgbClr val="182235"/>
                </a:solidFill>
                <a:latin typeface="Yu Gothic" pitchFamily="34" charset="0"/>
                <a:ea typeface="Yu Gothic" pitchFamily="34" charset="-122"/>
                <a:cs typeface="Yu Gothic" pitchFamily="34" charset="-120"/>
              </a:rPr>
              <a:t>ランダムフォレスト（RF）とDNNアンサンブルで6種のガス透過性を同時学習、SHAPで解釈</a:t>
            </a:r>
            <a:endParaRPr lang="en-US" sz="1200" dirty="0"/>
          </a:p>
        </p:txBody>
      </p:sp>
      <p:sp>
        <p:nvSpPr>
          <p:cNvPr id="23" name="Shape 21"/>
          <p:cNvSpPr/>
          <p:nvPr/>
        </p:nvSpPr>
        <p:spPr>
          <a:xfrm>
            <a:off x="630936" y="4233672"/>
            <a:ext cx="109728" cy="246888"/>
          </a:xfrm>
          <a:prstGeom prst="downArrow">
            <a:avLst/>
          </a:prstGeom>
          <a:solidFill>
            <a:srgbClr val="A9B8C8"/>
          </a:solidFill>
          <a:ln/>
        </p:spPr>
      </p:sp>
      <p:sp>
        <p:nvSpPr>
          <p:cNvPr id="24" name="Shape 22"/>
          <p:cNvSpPr/>
          <p:nvPr/>
        </p:nvSpPr>
        <p:spPr>
          <a:xfrm>
            <a:off x="457200" y="4526280"/>
            <a:ext cx="457200" cy="457200"/>
          </a:xfrm>
          <a:prstGeom prst="ellipse">
            <a:avLst/>
          </a:prstGeom>
          <a:solidFill>
            <a:srgbClr val="1779BA"/>
          </a:solidFill>
          <a:ln/>
        </p:spPr>
      </p:sp>
      <p:sp>
        <p:nvSpPr>
          <p:cNvPr id="25" name="Text 23"/>
          <p:cNvSpPr/>
          <p:nvPr/>
        </p:nvSpPr>
        <p:spPr>
          <a:xfrm>
            <a:off x="45720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4</a:t>
            </a:r>
            <a:endParaRPr lang="en-US" sz="1600" dirty="0"/>
          </a:p>
        </p:txBody>
      </p:sp>
      <p:sp>
        <p:nvSpPr>
          <p:cNvPr id="26" name="Shape 24"/>
          <p:cNvSpPr/>
          <p:nvPr/>
        </p:nvSpPr>
        <p:spPr>
          <a:xfrm>
            <a:off x="1097280" y="4480560"/>
            <a:ext cx="2377440" cy="566928"/>
          </a:xfrm>
          <a:prstGeom prst="rect">
            <a:avLst/>
          </a:prstGeom>
          <a:solidFill>
            <a:srgbClr val="DCEEF7"/>
          </a:solidFill>
          <a:ln/>
        </p:spPr>
      </p:sp>
      <p:sp>
        <p:nvSpPr>
          <p:cNvPr id="27" name="Text 25"/>
          <p:cNvSpPr/>
          <p:nvPr/>
        </p:nvSpPr>
        <p:spPr>
          <a:xfrm>
            <a:off x="1143000" y="4480560"/>
            <a:ext cx="2286000" cy="566928"/>
          </a:xfrm>
          <a:prstGeom prst="rect">
            <a:avLst/>
          </a:prstGeom>
          <a:noFill/>
          <a:ln/>
        </p:spPr>
        <p:txBody>
          <a:bodyPr wrap="square" lIns="0" tIns="0" rIns="0" bIns="0" rtlCol="0" anchor="ctr"/>
          <a:lstStyle/>
          <a:p>
            <a:pPr algn="l" indent="0" marL="0">
              <a:buNone/>
            </a:pPr>
            <a:r>
              <a:rPr lang="en-US" sz="1400" b="1" dirty="0">
                <a:solidFill>
                  <a:srgbClr val="12385B"/>
                </a:solidFill>
                <a:latin typeface="Yu Gothic" pitchFamily="34" charset="0"/>
                <a:ea typeface="Yu Gothic" pitchFamily="34" charset="-122"/>
                <a:cs typeface="Yu Gothic" pitchFamily="34" charset="-120"/>
              </a:rPr>
              <a:t>スクリーニング</a:t>
            </a:r>
            <a:endParaRPr lang="en-US" sz="1400" dirty="0"/>
          </a:p>
        </p:txBody>
      </p:sp>
      <p:sp>
        <p:nvSpPr>
          <p:cNvPr id="28" name="Text 26"/>
          <p:cNvSpPr/>
          <p:nvPr/>
        </p:nvSpPr>
        <p:spPr>
          <a:xfrm>
            <a:off x="3703320" y="4480560"/>
            <a:ext cx="8122615" cy="566928"/>
          </a:xfrm>
          <a:prstGeom prst="rect">
            <a:avLst/>
          </a:prstGeom>
          <a:noFill/>
          <a:ln/>
        </p:spPr>
        <p:txBody>
          <a:bodyPr wrap="square" lIns="0" tIns="0" rIns="0" bIns="0" rtlCol="0" anchor="ctr"/>
          <a:lstStyle/>
          <a:p>
            <a:pPr indent="0" marL="0">
              <a:buNone/>
            </a:pPr>
            <a:r>
              <a:rPr lang="en-US" sz="1200" dirty="0">
                <a:solidFill>
                  <a:srgbClr val="182235"/>
                </a:solidFill>
                <a:latin typeface="Yu Gothic" pitchFamily="34" charset="0"/>
                <a:ea typeface="Yu Gothic" pitchFamily="34" charset="-122"/>
                <a:cs typeface="Yu Gothic" pitchFamily="34" charset="-120"/>
              </a:rPr>
              <a:t>学習済みモデルで900万種超の仮想ポリマー（未知の透過性）を予測</a:t>
            </a:r>
            <a:endParaRPr lang="en-US" sz="1200" dirty="0"/>
          </a:p>
        </p:txBody>
      </p:sp>
      <p:sp>
        <p:nvSpPr>
          <p:cNvPr id="29" name="Shape 27"/>
          <p:cNvSpPr/>
          <p:nvPr/>
        </p:nvSpPr>
        <p:spPr>
          <a:xfrm>
            <a:off x="630936" y="5010912"/>
            <a:ext cx="109728" cy="246888"/>
          </a:xfrm>
          <a:prstGeom prst="downArrow">
            <a:avLst/>
          </a:prstGeom>
          <a:solidFill>
            <a:srgbClr val="A9B8C8"/>
          </a:solidFill>
          <a:ln/>
        </p:spPr>
      </p:sp>
      <p:sp>
        <p:nvSpPr>
          <p:cNvPr id="30" name="Shape 28"/>
          <p:cNvSpPr/>
          <p:nvPr/>
        </p:nvSpPr>
        <p:spPr>
          <a:xfrm>
            <a:off x="457200" y="5303520"/>
            <a:ext cx="457200" cy="457200"/>
          </a:xfrm>
          <a:prstGeom prst="ellipse">
            <a:avLst/>
          </a:prstGeom>
          <a:solidFill>
            <a:srgbClr val="1779BA"/>
          </a:solidFill>
          <a:ln/>
        </p:spPr>
      </p:sp>
      <p:sp>
        <p:nvSpPr>
          <p:cNvPr id="31" name="Text 29"/>
          <p:cNvSpPr/>
          <p:nvPr/>
        </p:nvSpPr>
        <p:spPr>
          <a:xfrm>
            <a:off x="457200" y="5303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5</a:t>
            </a:r>
            <a:endParaRPr lang="en-US" sz="1600" dirty="0"/>
          </a:p>
        </p:txBody>
      </p:sp>
      <p:sp>
        <p:nvSpPr>
          <p:cNvPr id="32" name="Shape 30"/>
          <p:cNvSpPr/>
          <p:nvPr/>
        </p:nvSpPr>
        <p:spPr>
          <a:xfrm>
            <a:off x="1097280" y="5257800"/>
            <a:ext cx="2377440" cy="566928"/>
          </a:xfrm>
          <a:prstGeom prst="rect">
            <a:avLst/>
          </a:prstGeom>
          <a:solidFill>
            <a:srgbClr val="DCEEF7"/>
          </a:solidFill>
          <a:ln/>
        </p:spPr>
      </p:sp>
      <p:sp>
        <p:nvSpPr>
          <p:cNvPr id="33" name="Text 31"/>
          <p:cNvSpPr/>
          <p:nvPr/>
        </p:nvSpPr>
        <p:spPr>
          <a:xfrm>
            <a:off x="1143000" y="5257800"/>
            <a:ext cx="2286000" cy="566928"/>
          </a:xfrm>
          <a:prstGeom prst="rect">
            <a:avLst/>
          </a:prstGeom>
          <a:noFill/>
          <a:ln/>
        </p:spPr>
        <p:txBody>
          <a:bodyPr wrap="square" lIns="0" tIns="0" rIns="0" bIns="0" rtlCol="0" anchor="ctr"/>
          <a:lstStyle/>
          <a:p>
            <a:pPr algn="l" indent="0" marL="0">
              <a:buNone/>
            </a:pPr>
            <a:r>
              <a:rPr lang="en-US" sz="1400" b="1" dirty="0">
                <a:solidFill>
                  <a:srgbClr val="12385B"/>
                </a:solidFill>
                <a:latin typeface="Yu Gothic" pitchFamily="34" charset="0"/>
                <a:ea typeface="Yu Gothic" pitchFamily="34" charset="-122"/>
                <a:cs typeface="Yu Gothic" pitchFamily="34" charset="-120"/>
              </a:rPr>
              <a:t>MD検証</a:t>
            </a:r>
            <a:endParaRPr lang="en-US" sz="1400" dirty="0"/>
          </a:p>
        </p:txBody>
      </p:sp>
      <p:sp>
        <p:nvSpPr>
          <p:cNvPr id="34" name="Text 32"/>
          <p:cNvSpPr/>
          <p:nvPr/>
        </p:nvSpPr>
        <p:spPr>
          <a:xfrm>
            <a:off x="3703320" y="5257800"/>
            <a:ext cx="8122615" cy="566928"/>
          </a:xfrm>
          <a:prstGeom prst="rect">
            <a:avLst/>
          </a:prstGeom>
          <a:noFill/>
          <a:ln/>
        </p:spPr>
        <p:txBody>
          <a:bodyPr wrap="square" lIns="0" tIns="0" rIns="0" bIns="0" rtlCol="0" anchor="ctr"/>
          <a:lstStyle/>
          <a:p>
            <a:pPr indent="0" marL="0">
              <a:buNone/>
            </a:pPr>
            <a:r>
              <a:rPr lang="en-US" sz="1200" dirty="0">
                <a:solidFill>
                  <a:srgbClr val="182235"/>
                </a:solidFill>
                <a:latin typeface="Yu Gothic" pitchFamily="34" charset="0"/>
                <a:ea typeface="Yu Gothic" pitchFamily="34" charset="-122"/>
                <a:cs typeface="Yu Gothic" pitchFamily="34" charset="-120"/>
              </a:rPr>
              <a:t>有望な候補について高精度MDシミュレーションで透過性・選択性を検証</a:t>
            </a:r>
            <a:endParaRPr lang="en-US" sz="1200" dirty="0"/>
          </a:p>
        </p:txBody>
      </p:sp>
      <p:sp>
        <p:nvSpPr>
          <p:cNvPr id="35" name="Shape 33"/>
          <p:cNvSpPr/>
          <p:nvPr/>
        </p:nvSpPr>
        <p:spPr>
          <a:xfrm>
            <a:off x="457200" y="6355080"/>
            <a:ext cx="11277295" cy="0"/>
          </a:xfrm>
          <a:prstGeom prst="line">
            <a:avLst/>
          </a:prstGeom>
          <a:noFill/>
          <a:ln w="9525">
            <a:solidFill>
              <a:srgbClr val="D5DEE7"/>
            </a:solidFill>
            <a:prstDash val="solid"/>
          </a:ln>
        </p:spPr>
      </p:sp>
      <p:sp>
        <p:nvSpPr>
          <p:cNvPr id="36" name="Text 34"/>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Fig. 1 に基づき再構成／Yang et al., Machine learning enables interpretable discovery of innovative polymers for gas separation membranes. Sci. Adv. 8, eabn9545 (2022).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6</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データセットと化学空間</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訓練データ（dataset A）778種に対し、スクリーニング用に900万種超の仮想ポリマー（dataset B・C・D）を用意（Table 1）</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11277295" cy="3840480"/>
        </p:xfrm>
        <a:graphic>
          <a:graphicData uri="http://schemas.openxmlformats.org/drawingml/2006/table">
            <a:tbl>
              <a:tblPr/>
              <a:tblGrid>
                <a:gridCol w="1828800"/>
                <a:gridCol w="1371600"/>
                <a:gridCol w="1737360"/>
                <a:gridCol w="4114800"/>
                <a:gridCol w="2221992"/>
              </a:tblGrid>
              <a:tr h="768096">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Dataset</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ポリマー数</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透過性</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内容</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出典</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r>
              <a:tr h="768096">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A（訓練セット）</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778</a:t>
                      </a:r>
                      <a:endParaRPr lang="en-US" sz="1200" dirty="0">
                        <a:latin typeface="Yu Gothic" charset="0"/>
                        <a:ea typeface="Yu Gothic" charset="0"/>
                        <a:cs typeface="Yu Gothic" charset="0"/>
                      </a:endParaRPr>
                    </a:p>
                    <a:p>
                      <a:pPr indent="0" marL="0">
                        <a:buNone/>
                      </a:pPr>
                      <a:r>
                        <a:rPr lang="en-US" sz="1200" dirty="0">
                          <a:solidFill>
                            <a:srgbClr val="182235"/>
                          </a:solidFill>
                          <a:latin typeface="Yu Gothic" pitchFamily="34" charset="0"/>
                          <a:ea typeface="Yu Gothic" pitchFamily="34" charset="-122"/>
                          <a:cs typeface="Yu Gothic" pitchFamily="34" charset="-120"/>
                        </a:rPr>
                        <a:t>(353種)</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少なくとも1ガス既知</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実測ホモポリマー</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PoLyInfo / MSA</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768096">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B（PI1M）</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995,799</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未知</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RNNで生成した仮想ポリマー</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PoLyInfoベース</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768096">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C</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8,205,087</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未知</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仮想ポリイミド</a:t>
                      </a:r>
                      <a:endParaRPr lang="en-US" sz="1200" dirty="0">
                        <a:latin typeface="Yu Gothic" charset="0"/>
                        <a:ea typeface="Yu Gothic" charset="0"/>
                        <a:cs typeface="Yu Gothic" charset="0"/>
                      </a:endParaRPr>
                    </a:p>
                    <a:p>
                      <a:pPr indent="0" marL="0">
                        <a:buNone/>
                      </a:pPr>
                      <a:r>
                        <a:rPr lang="en-US" sz="1200" dirty="0">
                          <a:solidFill>
                            <a:srgbClr val="182235"/>
                          </a:solidFill>
                          <a:latin typeface="Yu Gothic" pitchFamily="34" charset="0"/>
                          <a:ea typeface="Yu Gothic" pitchFamily="34" charset="-122"/>
                          <a:cs typeface="Yu Gothic" pitchFamily="34" charset="-120"/>
                        </a:rPr>
                        <a:t>（ジアミン/ジイソシアネート×ジ無水物）</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PubChem</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768096">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D</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1,124</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未知</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仮想ラダーポリマー</a:t>
                      </a:r>
                      <a:endParaRPr lang="en-US" sz="1200" dirty="0">
                        <a:latin typeface="Yu Gothic" charset="0"/>
                        <a:ea typeface="Yu Gothic" charset="0"/>
                        <a:cs typeface="Yu Gothic" charset="0"/>
                      </a:endParaRPr>
                    </a:p>
                    <a:p>
                      <a:pPr indent="0" marL="0">
                        <a:buNone/>
                      </a:pPr>
                      <a:r>
                        <a:rPr lang="en-US" sz="1200" dirty="0">
                          <a:solidFill>
                            <a:srgbClr val="182235"/>
                          </a:solidFill>
                          <a:latin typeface="Yu Gothic" pitchFamily="34" charset="0"/>
                          <a:ea typeface="Yu Gothic" pitchFamily="34" charset="-122"/>
                          <a:cs typeface="Yu Gothic" pitchFamily="34" charset="-120"/>
                        </a:rPr>
                        <a:t>（既存ラダーポリマーの組合せ＋RNN）</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既存ラダーポリマー</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5943600"/>
            <a:ext cx="11277295" cy="3200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000" dirty="0">
                <a:solidFill>
                  <a:srgbClr val="182235"/>
                </a:solidFill>
                <a:latin typeface="Yu Gothic" pitchFamily="34" charset="0"/>
                <a:ea typeface="Yu Gothic" pitchFamily="34" charset="-122"/>
                <a:cs typeface="Yu Gothic" pitchFamily="34" charset="-120"/>
              </a:rPr>
              <a:t>dataset Bは既存PoLyInfoに近い分布のため分離膜に不向きなポリマーを多く含む一方、dataset C・Dは膜分離のための合理的探索を狙って構築されている</a:t>
            </a:r>
            <a:endParaRPr lang="en-US" sz="1000" dirty="0"/>
          </a:p>
        </p:txBody>
      </p:sp>
      <p:sp>
        <p:nvSpPr>
          <p:cNvPr id="8" name="Shape 5"/>
          <p:cNvSpPr/>
          <p:nvPr/>
        </p:nvSpPr>
        <p:spPr>
          <a:xfrm>
            <a:off x="457200" y="6355080"/>
            <a:ext cx="11277295" cy="0"/>
          </a:xfrm>
          <a:prstGeom prst="line">
            <a:avLst/>
          </a:prstGeom>
          <a:noFill/>
          <a:ln w="9525">
            <a:solidFill>
              <a:srgbClr val="D5DEE7"/>
            </a:solidFill>
            <a:prstDash val="solid"/>
          </a:ln>
        </p:spPr>
      </p:sp>
      <p:sp>
        <p:nvSpPr>
          <p:cNvPr id="9" name="Text 6"/>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Table 1 に基づき再構成／Yang et al., Machine learning enables interpretable discovery of innovative polymers for gas separation membranes. Sci. Adv. 8, eabn9545 (2022).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7</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予測モデルの性能評価</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DNNアンサンブルはRFより高い汎化性能（test R2 ≈ 0.90）を達成し、学習と評価のR2の差が小さい（Table 2）</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11277295" cy="2103120"/>
        </p:xfrm>
        <a:graphic>
          <a:graphicData uri="http://schemas.openxmlformats.org/drawingml/2006/table">
            <a:tbl>
              <a:tblPr/>
              <a:tblGrid>
                <a:gridCol w="3502152"/>
                <a:gridCol w="1444752"/>
                <a:gridCol w="1444752"/>
                <a:gridCol w="1444752"/>
                <a:gridCol w="1444752"/>
                <a:gridCol w="1444752"/>
                <a:gridCol w="1444752"/>
              </a:tblGrid>
              <a:tr h="420624">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モデル</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He</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H2</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O2</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N2</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CO2</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CH4</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r>
              <a:tr h="420624">
                <a:tc>
                  <a:txBody>
                    <a:bodyPr/>
                    <a:lstStyle/>
                    <a:p>
                      <a:pPr algn="l" indent="0" marL="0">
                        <a:buNone/>
                      </a:pPr>
                      <a:r>
                        <a:rPr lang="en-US" sz="1200" dirty="0">
                          <a:solidFill>
                            <a:srgbClr val="182235"/>
                          </a:solidFill>
                          <a:latin typeface="Yu Gothic" pitchFamily="34" charset="0"/>
                          <a:ea typeface="Yu Gothic" pitchFamily="34" charset="-122"/>
                          <a:cs typeface="Yu Gothic" pitchFamily="34" charset="-120"/>
                        </a:rPr>
                        <a:t>RF（記述子）</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0.73</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0.74</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0.75</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0.74</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0.75</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0.74</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82235"/>
                          </a:solidFill>
                          <a:latin typeface="Yu Gothic" pitchFamily="34" charset="0"/>
                          <a:ea typeface="Yu Gothic" pitchFamily="34" charset="-122"/>
                          <a:cs typeface="Yu Gothic" pitchFamily="34" charset="-120"/>
                        </a:rPr>
                        <a:t>RF（MFF）</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0.73</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0.74</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0.74</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0.74</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0.75</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0.74</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82235"/>
                          </a:solidFill>
                          <a:latin typeface="Yu Gothic" pitchFamily="34" charset="0"/>
                          <a:ea typeface="Yu Gothic" pitchFamily="34" charset="-122"/>
                          <a:cs typeface="Yu Gothic" pitchFamily="34" charset="-120"/>
                        </a:rPr>
                        <a:t>DNNアンサンブル（記述子）</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0.87</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0.88</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0.89</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0.90</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0.90</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0.89</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82235"/>
                          </a:solidFill>
                          <a:latin typeface="Yu Gothic" pitchFamily="34" charset="0"/>
                          <a:ea typeface="Yu Gothic" pitchFamily="34" charset="-122"/>
                          <a:cs typeface="Yu Gothic" pitchFamily="34" charset="-120"/>
                        </a:rPr>
                        <a:t>DNNアンサンブル（MFF）</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0.91</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0.90</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0.92</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0.91</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0.90</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235"/>
                          </a:solidFill>
                          <a:latin typeface="Yu Gothic" pitchFamily="34" charset="0"/>
                          <a:ea typeface="Yu Gothic" pitchFamily="34" charset="-122"/>
                          <a:cs typeface="Yu Gothic" pitchFamily="34" charset="-120"/>
                        </a:rPr>
                        <a:t>0.88</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4251960"/>
            <a:ext cx="11277295" cy="274320"/>
          </a:xfrm>
          <a:prstGeom prst="rect">
            <a:avLst/>
          </a:prstGeom>
          <a:noFill/>
          <a:ln/>
        </p:spPr>
        <p:txBody>
          <a:bodyPr wrap="square" lIns="0" tIns="0" rIns="0" bIns="0" rtlCol="0" anchor="ctr"/>
          <a:lstStyle/>
          <a:p>
            <a:pPr indent="0" marL="0">
              <a:buNone/>
            </a:pPr>
            <a:r>
              <a:rPr lang="en-US" sz="1000" dirty="0">
                <a:solidFill>
                  <a:srgbClr val="607089"/>
                </a:solidFill>
                <a:latin typeface="Yu Gothic" pitchFamily="34" charset="0"/>
                <a:ea typeface="Yu Gothic" pitchFamily="34" charset="-122"/>
                <a:cs typeface="Yu Gothic" pitchFamily="34" charset="-120"/>
              </a:rPr>
              <a:t>※ 表示値はTest R2（学習用データを除いたテストセットでの決定係数）</a:t>
            </a:r>
            <a:endParaRPr lang="en-US" sz="1000" dirty="0"/>
          </a:p>
        </p:txBody>
      </p:sp>
      <p:sp>
        <p:nvSpPr>
          <p:cNvPr id="8" name="Text 5"/>
          <p:cNvSpPr/>
          <p:nvPr/>
        </p:nvSpPr>
        <p:spPr>
          <a:xfrm>
            <a:off x="457200" y="4663440"/>
            <a:ext cx="11277295" cy="16002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RFはtrain R2 ≈ 0.90〜0.96に対しtest R2 ≈ 0.74と乖離が大きく、特に高透過性のPIMsへの適合が弱い</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DNNアンサンブルはtrain R2 ≈ 0.87〜0.90、test R2 ≈ 0.89〜0.90と極めて近く、汎化性能が高い</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16個のDNNをブートストラップでアンサンブルすることで予測精度と不確実性推定の両方を改善（個別モデルの平均test R2は約0.70）</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化学記述子とMFFのどちらを入力としても性能差は小さく、MFFがわずかに優れる</a:t>
            </a:r>
            <a:endParaRPr lang="en-US" sz="1200" dirty="0"/>
          </a:p>
        </p:txBody>
      </p:sp>
      <p:sp>
        <p:nvSpPr>
          <p:cNvPr id="9" name="Shape 6"/>
          <p:cNvSpPr/>
          <p:nvPr/>
        </p:nvSpPr>
        <p:spPr>
          <a:xfrm>
            <a:off x="457200" y="6355080"/>
            <a:ext cx="11277295" cy="0"/>
          </a:xfrm>
          <a:prstGeom prst="line">
            <a:avLst/>
          </a:prstGeom>
          <a:noFill/>
          <a:ln w="9525">
            <a:solidFill>
              <a:srgbClr val="D5DEE7"/>
            </a:solidFill>
            <a:prstDash val="solid"/>
          </a:ln>
        </p:spPr>
      </p:sp>
      <p:sp>
        <p:nvSpPr>
          <p:cNvPr id="10" name="Text 7"/>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Table 2 に基づき再構成（Test R2列のみ抜粋）／Yang et al., Machine learning enables interpretable discovery of innovative polymers for gas separation membranes. Sci. Adv. 8, eabn9545 (2022).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8</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重要な化学記述子とその効果（SHAP解析）</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最重要記述子はVSA_EState8。非芳香族環の数が多いほど透過性↑、分子密度（FpDensityMorgan）が高いほど透過性↓（Fig. 3）</a:t>
            </a:r>
            <a:endParaRPr lang="en-US" sz="1800" dirty="0"/>
          </a:p>
        </p:txBody>
      </p:sp>
      <p:sp>
        <p:nvSpPr>
          <p:cNvPr id="6" name="Shape 4"/>
          <p:cNvSpPr/>
          <p:nvPr/>
        </p:nvSpPr>
        <p:spPr>
          <a:xfrm>
            <a:off x="457200" y="2057400"/>
            <a:ext cx="5455768" cy="411480"/>
          </a:xfrm>
          <a:prstGeom prst="rect">
            <a:avLst/>
          </a:prstGeom>
          <a:solidFill>
            <a:srgbClr val="2E9E6C"/>
          </a:solidFill>
          <a:ln/>
        </p:spPr>
      </p:sp>
      <p:sp>
        <p:nvSpPr>
          <p:cNvPr id="7" name="Text 5"/>
          <p:cNvSpPr/>
          <p:nvPr/>
        </p:nvSpPr>
        <p:spPr>
          <a:xfrm>
            <a:off x="502920" y="2057400"/>
            <a:ext cx="5364328"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透過性を増加させる（+）</a:t>
            </a:r>
            <a:endParaRPr lang="en-US" sz="1400" dirty="0"/>
          </a:p>
        </p:txBody>
      </p:sp>
      <p:sp>
        <p:nvSpPr>
          <p:cNvPr id="8" name="Text 6"/>
          <p:cNvSpPr/>
          <p:nvPr/>
        </p:nvSpPr>
        <p:spPr>
          <a:xfrm>
            <a:off x="457200" y="2606040"/>
            <a:ext cx="5455768" cy="187452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VSA_EState8（最重要記述子）</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NumAliphaticRings／NumAliphaticCarbocycles（脂肪族環の数）</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EState_VSA8</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SlogP_VSA4／SlogP_VSA8</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FractionCSP3</a:t>
            </a:r>
            <a:endParaRPr lang="en-US" sz="1200" dirty="0"/>
          </a:p>
        </p:txBody>
      </p:sp>
      <p:sp>
        <p:nvSpPr>
          <p:cNvPr id="9" name="Shape 7"/>
          <p:cNvSpPr/>
          <p:nvPr/>
        </p:nvSpPr>
        <p:spPr>
          <a:xfrm>
            <a:off x="6278728" y="2057400"/>
            <a:ext cx="5455768" cy="411480"/>
          </a:xfrm>
          <a:prstGeom prst="rect">
            <a:avLst/>
          </a:prstGeom>
          <a:solidFill>
            <a:srgbClr val="E84A5F"/>
          </a:solidFill>
          <a:ln/>
        </p:spPr>
      </p:sp>
      <p:sp>
        <p:nvSpPr>
          <p:cNvPr id="10" name="Text 8"/>
          <p:cNvSpPr/>
          <p:nvPr/>
        </p:nvSpPr>
        <p:spPr>
          <a:xfrm>
            <a:off x="6324448" y="2057400"/>
            <a:ext cx="5364328"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透過性を低下させる（−）</a:t>
            </a:r>
            <a:endParaRPr lang="en-US" sz="1400" dirty="0"/>
          </a:p>
        </p:txBody>
      </p:sp>
      <p:sp>
        <p:nvSpPr>
          <p:cNvPr id="11" name="Text 9"/>
          <p:cNvSpPr/>
          <p:nvPr/>
        </p:nvSpPr>
        <p:spPr>
          <a:xfrm>
            <a:off x="6278728" y="2606040"/>
            <a:ext cx="5455768" cy="187452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EState_VSA9</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SlogP_VSA1</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SMR_VSA6</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FpDensityMorgan2／FpDensityMorgan3（分子密度）</a:t>
            </a:r>
            <a:endParaRPr lang="en-US" sz="1200" dirty="0"/>
          </a:p>
        </p:txBody>
      </p:sp>
      <p:sp>
        <p:nvSpPr>
          <p:cNvPr id="12" name="Shape 10"/>
          <p:cNvSpPr/>
          <p:nvPr/>
        </p:nvSpPr>
        <p:spPr>
          <a:xfrm>
            <a:off x="457200" y="4709160"/>
            <a:ext cx="11277295" cy="1097280"/>
          </a:xfrm>
          <a:prstGeom prst="rect">
            <a:avLst/>
          </a:prstGeom>
          <a:solidFill>
            <a:srgbClr val="EEF5F9"/>
          </a:solidFill>
          <a:ln w="9525">
            <a:solidFill>
              <a:srgbClr val="D5DEE7"/>
            </a:solidFill>
            <a:prstDash val="solid"/>
          </a:ln>
        </p:spPr>
      </p:sp>
      <p:sp>
        <p:nvSpPr>
          <p:cNvPr id="13" name="Text 11"/>
          <p:cNvSpPr/>
          <p:nvPr/>
        </p:nvSpPr>
        <p:spPr>
          <a:xfrm>
            <a:off x="594360" y="4800600"/>
            <a:ext cx="11002975" cy="914400"/>
          </a:xfrm>
          <a:prstGeom prst="rect">
            <a:avLst/>
          </a:prstGeom>
          <a:noFill/>
          <a:ln/>
        </p:spPr>
        <p:txBody>
          <a:bodyPr wrap="square" lIns="0" tIns="0" rIns="0" bIns="0" rtlCol="0" anchor="t"/>
          <a:lstStyle/>
          <a:p>
            <a:pPr indent="0" marL="0">
              <a:lnSpc>
                <a:spcPct val="120000"/>
              </a:lnSpc>
              <a:buNone/>
            </a:pPr>
            <a:r>
              <a:rPr lang="en-US" sz="1200" dirty="0">
                <a:solidFill>
                  <a:srgbClr val="182235"/>
                </a:solidFill>
                <a:latin typeface="Yu Gothic" pitchFamily="34" charset="0"/>
                <a:ea typeface="Yu Gothic" pitchFamily="34" charset="-122"/>
                <a:cs typeface="Yu Gothic" pitchFamily="34" charset="-120"/>
              </a:rPr>
              <a:t>相関グループ：NumAliphaticRings／NumAliphaticCarbocycles（正の効果）は、FpDensityMorgan2／3（負の効果）と相互に相関（相関グループA・B）。非芳香族環が多い＝自由体積要素が大きく分子密度が低い、という関係が透過性を高めると解釈される。</a:t>
            </a:r>
            <a:endParaRPr lang="en-US" sz="1200" dirty="0"/>
          </a:p>
        </p:txBody>
      </p:sp>
      <p:sp>
        <p:nvSpPr>
          <p:cNvPr id="14" name="Shape 12"/>
          <p:cNvSpPr/>
          <p:nvPr/>
        </p:nvSpPr>
        <p:spPr>
          <a:xfrm>
            <a:off x="457200" y="6355080"/>
            <a:ext cx="11277295" cy="0"/>
          </a:xfrm>
          <a:prstGeom prst="line">
            <a:avLst/>
          </a:prstGeom>
          <a:noFill/>
          <a:ln w="9525">
            <a:solidFill>
              <a:srgbClr val="D5DEE7"/>
            </a:solidFill>
            <a:prstDash val="solid"/>
          </a:ln>
        </p:spPr>
      </p:sp>
      <p:sp>
        <p:nvSpPr>
          <p:cNvPr id="15" name="Text 13"/>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Fig. 3 に基づき再構成／Yang et al., Machine learning enables interpretable discovery of innovative polymers for gas separation membranes. Sci. Adv. 8, eabn9545 (2022).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9</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重要な化学部分構造とその効果（SHAP解析）</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最重要部分構造はメチル基。極性基は透過性を下げるがN2/CH4への影響が大きく、選択性向上に寄与（Fig. 4）</a:t>
            </a:r>
            <a:endParaRPr lang="en-US" sz="1800" dirty="0"/>
          </a:p>
        </p:txBody>
      </p:sp>
      <p:sp>
        <p:nvSpPr>
          <p:cNvPr id="6" name="Shape 4"/>
          <p:cNvSpPr/>
          <p:nvPr/>
        </p:nvSpPr>
        <p:spPr>
          <a:xfrm>
            <a:off x="457200" y="2057400"/>
            <a:ext cx="5455768" cy="411480"/>
          </a:xfrm>
          <a:prstGeom prst="rect">
            <a:avLst/>
          </a:prstGeom>
          <a:solidFill>
            <a:srgbClr val="2E9E6C"/>
          </a:solidFill>
          <a:ln/>
        </p:spPr>
      </p:sp>
      <p:sp>
        <p:nvSpPr>
          <p:cNvPr id="7" name="Text 5"/>
          <p:cNvSpPr/>
          <p:nvPr/>
        </p:nvSpPr>
        <p:spPr>
          <a:xfrm>
            <a:off x="502920" y="2057400"/>
            <a:ext cx="5364328"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透過性を増加させる（+）</a:t>
            </a:r>
            <a:endParaRPr lang="en-US" sz="1400" dirty="0"/>
          </a:p>
        </p:txBody>
      </p:sp>
      <p:sp>
        <p:nvSpPr>
          <p:cNvPr id="8" name="Text 6"/>
          <p:cNvSpPr/>
          <p:nvPr/>
        </p:nvSpPr>
        <p:spPr>
          <a:xfrm>
            <a:off x="457200" y="2606040"/>
            <a:ext cx="5455768" cy="187452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メチル基（substructure 2854、最重要）：疎水性で立体障害により鎖の充填を阻害</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脂環に結合した4級炭素（2168）</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連結ボンド数（1781）：ラダーポリマーは1繰返し単位あたり4連結点を持ち透過性に寄与</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二重結合炭素×芳香環（1432・822）：ポリアセチレン構造を定義し高透過性</a:t>
            </a:r>
            <a:endParaRPr lang="en-US" sz="1200" dirty="0"/>
          </a:p>
        </p:txBody>
      </p:sp>
      <p:sp>
        <p:nvSpPr>
          <p:cNvPr id="9" name="Shape 7"/>
          <p:cNvSpPr/>
          <p:nvPr/>
        </p:nvSpPr>
        <p:spPr>
          <a:xfrm>
            <a:off x="6278728" y="2057400"/>
            <a:ext cx="5455768" cy="411480"/>
          </a:xfrm>
          <a:prstGeom prst="rect">
            <a:avLst/>
          </a:prstGeom>
          <a:solidFill>
            <a:srgbClr val="E84A5F"/>
          </a:solidFill>
          <a:ln/>
        </p:spPr>
      </p:sp>
      <p:sp>
        <p:nvSpPr>
          <p:cNvPr id="10" name="Text 8"/>
          <p:cNvSpPr/>
          <p:nvPr/>
        </p:nvSpPr>
        <p:spPr>
          <a:xfrm>
            <a:off x="6324448" y="2057400"/>
            <a:ext cx="5364328"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透過性を低下させる（−）</a:t>
            </a:r>
            <a:endParaRPr lang="en-US" sz="1400" dirty="0"/>
          </a:p>
        </p:txBody>
      </p:sp>
      <p:sp>
        <p:nvSpPr>
          <p:cNvPr id="11" name="Text 9"/>
          <p:cNvSpPr/>
          <p:nvPr/>
        </p:nvSpPr>
        <p:spPr>
          <a:xfrm>
            <a:off x="6278728" y="2606040"/>
            <a:ext cx="5455768" cy="187452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二重結合酸素（799・2706）：カルボニル基</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エーテル（1519）</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窒素原子（2906）</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これら極性基はN2・CH4透過性への負の影響がO2・CO2より大きく、選択性の向上に寄与</a:t>
            </a:r>
            <a:endParaRPr lang="en-US" sz="1200" dirty="0"/>
          </a:p>
        </p:txBody>
      </p:sp>
      <p:sp>
        <p:nvSpPr>
          <p:cNvPr id="12" name="Shape 10"/>
          <p:cNvSpPr/>
          <p:nvPr/>
        </p:nvSpPr>
        <p:spPr>
          <a:xfrm>
            <a:off x="457200" y="4709160"/>
            <a:ext cx="11277295" cy="1097280"/>
          </a:xfrm>
          <a:prstGeom prst="rect">
            <a:avLst/>
          </a:prstGeom>
          <a:solidFill>
            <a:srgbClr val="EEF5F9"/>
          </a:solidFill>
          <a:ln w="9525">
            <a:solidFill>
              <a:srgbClr val="D5DEE7"/>
            </a:solidFill>
            <a:prstDash val="solid"/>
          </a:ln>
        </p:spPr>
      </p:sp>
      <p:sp>
        <p:nvSpPr>
          <p:cNvPr id="13" name="Text 11"/>
          <p:cNvSpPr/>
          <p:nvPr/>
        </p:nvSpPr>
        <p:spPr>
          <a:xfrm>
            <a:off x="594360" y="4800600"/>
            <a:ext cx="11002975" cy="914400"/>
          </a:xfrm>
          <a:prstGeom prst="rect">
            <a:avLst/>
          </a:prstGeom>
          <a:noFill/>
          <a:ln/>
        </p:spPr>
        <p:txBody>
          <a:bodyPr wrap="square" lIns="0" tIns="0" rIns="0" bIns="0" rtlCol="0" anchor="t"/>
          <a:lstStyle/>
          <a:p>
            <a:pPr indent="0" marL="0">
              <a:lnSpc>
                <a:spcPct val="120000"/>
              </a:lnSpc>
              <a:buNone/>
            </a:pPr>
            <a:r>
              <a:rPr lang="en-US" sz="1200" dirty="0">
                <a:solidFill>
                  <a:srgbClr val="182235"/>
                </a:solidFill>
                <a:latin typeface="Yu Gothic" pitchFamily="34" charset="0"/>
                <a:ea typeface="Yu Gothic" pitchFamily="34" charset="-122"/>
                <a:cs typeface="Yu Gothic" pitchFamily="34" charset="-120"/>
              </a:rPr>
              <a:t>透過性/選択性トレードオフの化学的説明：透過性を高める嵩高い基（メチル基・脂肪族環）と、選択性を高める極性基（カルボニル・エーテル・窒素）を、材料設計上どうバランスさせるかが鍵となる。</a:t>
            </a:r>
            <a:endParaRPr lang="en-US" sz="1200" dirty="0"/>
          </a:p>
        </p:txBody>
      </p:sp>
      <p:sp>
        <p:nvSpPr>
          <p:cNvPr id="14" name="Shape 12"/>
          <p:cNvSpPr/>
          <p:nvPr/>
        </p:nvSpPr>
        <p:spPr>
          <a:xfrm>
            <a:off x="457200" y="6355080"/>
            <a:ext cx="11277295" cy="0"/>
          </a:xfrm>
          <a:prstGeom prst="line">
            <a:avLst/>
          </a:prstGeom>
          <a:noFill/>
          <a:ln w="9525">
            <a:solidFill>
              <a:srgbClr val="D5DEE7"/>
            </a:solidFill>
            <a:prstDash val="solid"/>
          </a:ln>
        </p:spPr>
      </p:sp>
      <p:sp>
        <p:nvSpPr>
          <p:cNvPr id="15" name="Text 13"/>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Fig. 4 に基づき再構成／Yang et al., Machine learning enables interpretable discovery of innovative polymers for gas separation membranes. Sci. Adv. 8, eabn9545 (2022).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10</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発見された高性能ポリマー候補</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仮想ポリイミド800万種超（dataset C）から、2008年Robeson上限を超える候補を数百〜数万件特定（Table 3）</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6035040" cy="3291840"/>
        </p:xfrm>
        <a:graphic>
          <a:graphicData uri="http://schemas.openxmlformats.org/drawingml/2006/table">
            <a:tbl>
              <a:tblPr/>
              <a:tblGrid>
                <a:gridCol w="4206240"/>
                <a:gridCol w="1828800"/>
              </a:tblGrid>
              <a:tr h="466344">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ガス／分離</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件数</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r>
              <a:tr h="466344">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O2/N2（2008年Robeson上限を超える）</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約80,000件</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466344">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CO2/CH4（同上）</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約3,000件</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466344">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CO2/N2（同上）</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約800件</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466344">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H2/CO2（同上）</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約10,000件</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466344">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O2透過性が10^4 Barrer超</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197件</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466344">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CO2透過性が10^5 Barrer超</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225件</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bl>
          </a:graphicData>
        </a:graphic>
      </p:graphicFrame>
      <p:sp>
        <p:nvSpPr>
          <p:cNvPr id="7" name="Shape 4"/>
          <p:cNvSpPr/>
          <p:nvPr/>
        </p:nvSpPr>
        <p:spPr>
          <a:xfrm>
            <a:off x="6858000" y="2057400"/>
            <a:ext cx="4876495" cy="411480"/>
          </a:xfrm>
          <a:prstGeom prst="rect">
            <a:avLst/>
          </a:prstGeom>
          <a:solidFill>
            <a:srgbClr val="DCEEF7"/>
          </a:solidFill>
          <a:ln/>
        </p:spPr>
      </p:sp>
      <p:sp>
        <p:nvSpPr>
          <p:cNvPr id="8" name="Text 5"/>
          <p:cNvSpPr/>
          <p:nvPr/>
        </p:nvSpPr>
        <p:spPr>
          <a:xfrm>
            <a:off x="6903720" y="2057400"/>
            <a:ext cx="4785055" cy="411480"/>
          </a:xfrm>
          <a:prstGeom prst="rect">
            <a:avLst/>
          </a:prstGeom>
          <a:noFill/>
          <a:ln/>
        </p:spPr>
        <p:txBody>
          <a:bodyPr wrap="square" lIns="0" tIns="0" rIns="0" bIns="0" rtlCol="0" anchor="ctr"/>
          <a:lstStyle/>
          <a:p>
            <a:pPr algn="l" indent="0" marL="0">
              <a:buNone/>
            </a:pPr>
            <a:r>
              <a:rPr lang="en-US" sz="1400" b="1" dirty="0">
                <a:solidFill>
                  <a:srgbClr val="12385B"/>
                </a:solidFill>
                <a:latin typeface="Yu Gothic" pitchFamily="34" charset="0"/>
                <a:ea typeface="Yu Gothic" pitchFamily="34" charset="-122"/>
                <a:cs typeface="Yu Gothic" pitchFamily="34" charset="-120"/>
              </a:rPr>
              <a:t>各データセットの傾向（Fig. 5、原図参照）</a:t>
            </a:r>
            <a:endParaRPr lang="en-US" sz="1400" dirty="0"/>
          </a:p>
        </p:txBody>
      </p:sp>
      <p:sp>
        <p:nvSpPr>
          <p:cNvPr id="9" name="Text 6"/>
          <p:cNvSpPr/>
          <p:nvPr/>
        </p:nvSpPr>
        <p:spPr>
          <a:xfrm>
            <a:off x="6858000" y="2606040"/>
            <a:ext cx="4876495" cy="27432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dataset D（ラダーポリマー）：既存Robeson上限付近に予測が集中</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dataset C（ポリイミド）：上限を超える候補を含み多様な分布</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dataset B（PI1M）：多くが低透過性・低選択性側に分布</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訓練データにない超高透過性領域（O2&gt;10^4, CO2&gt;10^5 Barrer）にもDNNモデルは外挿的に予測</a:t>
            </a:r>
            <a:endParaRPr lang="en-US" sz="1200" dirty="0"/>
          </a:p>
        </p:txBody>
      </p:sp>
      <p:sp>
        <p:nvSpPr>
          <p:cNvPr id="10" name="Shape 7"/>
          <p:cNvSpPr/>
          <p:nvPr/>
        </p:nvSpPr>
        <p:spPr>
          <a:xfrm>
            <a:off x="457200" y="6355080"/>
            <a:ext cx="11277295" cy="0"/>
          </a:xfrm>
          <a:prstGeom prst="line">
            <a:avLst/>
          </a:prstGeom>
          <a:noFill/>
          <a:ln w="9525">
            <a:solidFill>
              <a:srgbClr val="D5DEE7"/>
            </a:solidFill>
            <a:prstDash val="solid"/>
          </a:ln>
        </p:spPr>
      </p:sp>
      <p:sp>
        <p:nvSpPr>
          <p:cNvPr id="11" name="Text 8"/>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Table 3・Fig. 5 に基づき再構成／Yang et al., Machine learning enables interpretable discovery of innovative polymers for gas separation membranes. Sci. Adv. 8, eabn9545 (2022).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11</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MDシミュレーションによる検証</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選定した候補ポリマーのML予測透過性は、MD計算値と良好に一致（Fig. 6）</a:t>
            </a:r>
            <a:endParaRPr lang="en-US" sz="1800" dirty="0"/>
          </a:p>
        </p:txBody>
      </p:sp>
      <p:sp>
        <p:nvSpPr>
          <p:cNvPr id="6" name="Shape 4"/>
          <p:cNvSpPr/>
          <p:nvPr/>
        </p:nvSpPr>
        <p:spPr>
          <a:xfrm>
            <a:off x="457200" y="2057400"/>
            <a:ext cx="2926080" cy="822960"/>
          </a:xfrm>
          <a:prstGeom prst="rect">
            <a:avLst/>
          </a:prstGeom>
          <a:solidFill>
            <a:srgbClr val="DCEEF7"/>
          </a:solidFill>
          <a:ln/>
        </p:spPr>
      </p:sp>
      <p:sp>
        <p:nvSpPr>
          <p:cNvPr id="7" name="Text 5"/>
          <p:cNvSpPr/>
          <p:nvPr/>
        </p:nvSpPr>
        <p:spPr>
          <a:xfrm>
            <a:off x="502920" y="2057400"/>
            <a:ext cx="2834640" cy="822960"/>
          </a:xfrm>
          <a:prstGeom prst="rect">
            <a:avLst/>
          </a:prstGeom>
          <a:noFill/>
          <a:ln/>
        </p:spPr>
        <p:txBody>
          <a:bodyPr wrap="square" lIns="0" tIns="0" rIns="0" bIns="0" rtlCol="0" anchor="ctr"/>
          <a:lstStyle/>
          <a:p>
            <a:pPr algn="ctr" indent="0" marL="0">
              <a:buNone/>
            </a:pPr>
            <a:r>
              <a:rPr lang="en-US" sz="1200" b="1" dirty="0">
                <a:solidFill>
                  <a:srgbClr val="12385B"/>
                </a:solidFill>
                <a:latin typeface="Yu Gothic" pitchFamily="34" charset="0"/>
                <a:ea typeface="Yu Gothic" pitchFamily="34" charset="-122"/>
                <a:cs typeface="Yu Gothic" pitchFamily="34" charset="-120"/>
              </a:rPr>
              <a:t>ML予測</a:t>
            </a:r>
            <a:endParaRPr lang="en-US" sz="1200" dirty="0"/>
          </a:p>
          <a:p>
            <a:pPr algn="ctr" indent="0" marL="0">
              <a:buNone/>
            </a:pPr>
            <a:r>
              <a:rPr lang="en-US" sz="1200" b="1" dirty="0">
                <a:solidFill>
                  <a:srgbClr val="12385B"/>
                </a:solidFill>
                <a:latin typeface="Yu Gothic" pitchFamily="34" charset="0"/>
                <a:ea typeface="Yu Gothic" pitchFamily="34" charset="-122"/>
                <a:cs typeface="Yu Gothic" pitchFamily="34" charset="-120"/>
              </a:rPr>
              <a:t>（RF／DNNアンサンブル）</a:t>
            </a:r>
            <a:endParaRPr lang="en-US" sz="1200" dirty="0"/>
          </a:p>
        </p:txBody>
      </p:sp>
      <p:sp>
        <p:nvSpPr>
          <p:cNvPr id="8" name="Shape 6"/>
          <p:cNvSpPr/>
          <p:nvPr/>
        </p:nvSpPr>
        <p:spPr>
          <a:xfrm>
            <a:off x="457200" y="3108960"/>
            <a:ext cx="2926080" cy="822960"/>
          </a:xfrm>
          <a:prstGeom prst="rect">
            <a:avLst/>
          </a:prstGeom>
          <a:solidFill>
            <a:srgbClr val="DCEEF7"/>
          </a:solidFill>
          <a:ln/>
        </p:spPr>
      </p:sp>
      <p:sp>
        <p:nvSpPr>
          <p:cNvPr id="9" name="Text 7"/>
          <p:cNvSpPr/>
          <p:nvPr/>
        </p:nvSpPr>
        <p:spPr>
          <a:xfrm>
            <a:off x="502920" y="3108960"/>
            <a:ext cx="2834640" cy="822960"/>
          </a:xfrm>
          <a:prstGeom prst="rect">
            <a:avLst/>
          </a:prstGeom>
          <a:noFill/>
          <a:ln/>
        </p:spPr>
        <p:txBody>
          <a:bodyPr wrap="square" lIns="0" tIns="0" rIns="0" bIns="0" rtlCol="0" anchor="ctr"/>
          <a:lstStyle/>
          <a:p>
            <a:pPr algn="ctr" indent="0" marL="0">
              <a:buNone/>
            </a:pPr>
            <a:r>
              <a:rPr lang="en-US" sz="1200" b="1" dirty="0">
                <a:solidFill>
                  <a:srgbClr val="12385B"/>
                </a:solidFill>
                <a:latin typeface="Yu Gothic" pitchFamily="34" charset="0"/>
                <a:ea typeface="Yu Gothic" pitchFamily="34" charset="-122"/>
                <a:cs typeface="Yu Gothic" pitchFamily="34" charset="-120"/>
              </a:rPr>
              <a:t>MDシミュレーション</a:t>
            </a:r>
            <a:endParaRPr lang="en-US" sz="1200" dirty="0"/>
          </a:p>
          <a:p>
            <a:pPr algn="ctr" indent="0" marL="0">
              <a:buNone/>
            </a:pPr>
            <a:r>
              <a:rPr lang="en-US" sz="1200" b="1" dirty="0">
                <a:solidFill>
                  <a:srgbClr val="12385B"/>
                </a:solidFill>
                <a:latin typeface="Yu Gothic" pitchFamily="34" charset="0"/>
                <a:ea typeface="Yu Gothic" pitchFamily="34" charset="-122"/>
                <a:cs typeface="Yu Gothic" pitchFamily="34" charset="-120"/>
              </a:rPr>
              <a:t>（LAMMPS + PCFF）</a:t>
            </a:r>
            <a:endParaRPr lang="en-US" sz="1200" dirty="0"/>
          </a:p>
        </p:txBody>
      </p:sp>
      <p:sp>
        <p:nvSpPr>
          <p:cNvPr id="10" name="Shape 8"/>
          <p:cNvSpPr/>
          <p:nvPr/>
        </p:nvSpPr>
        <p:spPr>
          <a:xfrm>
            <a:off x="3520440" y="2560320"/>
            <a:ext cx="457200" cy="365760"/>
          </a:xfrm>
          <a:prstGeom prst="rightArrow">
            <a:avLst/>
          </a:prstGeom>
          <a:solidFill>
            <a:srgbClr val="1779BA"/>
          </a:solidFill>
          <a:ln/>
        </p:spPr>
      </p:sp>
      <p:sp>
        <p:nvSpPr>
          <p:cNvPr id="11" name="Shape 9"/>
          <p:cNvSpPr/>
          <p:nvPr/>
        </p:nvSpPr>
        <p:spPr>
          <a:xfrm>
            <a:off x="4114800" y="2560320"/>
            <a:ext cx="2194560" cy="822960"/>
          </a:xfrm>
          <a:prstGeom prst="rect">
            <a:avLst/>
          </a:prstGeom>
          <a:solidFill>
            <a:srgbClr val="E7F5EF"/>
          </a:solidFill>
          <a:ln/>
        </p:spPr>
      </p:sp>
      <p:sp>
        <p:nvSpPr>
          <p:cNvPr id="12" name="Text 10"/>
          <p:cNvSpPr/>
          <p:nvPr/>
        </p:nvSpPr>
        <p:spPr>
          <a:xfrm>
            <a:off x="4160520" y="2560320"/>
            <a:ext cx="2103120" cy="822960"/>
          </a:xfrm>
          <a:prstGeom prst="rect">
            <a:avLst/>
          </a:prstGeom>
          <a:noFill/>
          <a:ln/>
        </p:spPr>
        <p:txBody>
          <a:bodyPr wrap="square" lIns="0" tIns="0" rIns="0" bIns="0" rtlCol="0" anchor="ctr"/>
          <a:lstStyle/>
          <a:p>
            <a:pPr algn="ctr" indent="0" marL="0">
              <a:buNone/>
            </a:pPr>
            <a:r>
              <a:rPr lang="en-US" sz="1200" b="1" dirty="0">
                <a:solidFill>
                  <a:srgbClr val="2E9E6C"/>
                </a:solidFill>
                <a:latin typeface="Yu Gothic" pitchFamily="34" charset="0"/>
                <a:ea typeface="Yu Gothic" pitchFamily="34" charset="-122"/>
                <a:cs typeface="Yu Gothic" pitchFamily="34" charset="-120"/>
              </a:rPr>
              <a:t>定量的な一致</a:t>
            </a:r>
            <a:endParaRPr lang="en-US" sz="1200" dirty="0"/>
          </a:p>
          <a:p>
            <a:pPr algn="ctr" indent="0" marL="0">
              <a:buNone/>
            </a:pPr>
            <a:r>
              <a:rPr lang="en-US" sz="1200" b="1" dirty="0">
                <a:solidFill>
                  <a:srgbClr val="2E9E6C"/>
                </a:solidFill>
                <a:latin typeface="Yu Gothic" pitchFamily="34" charset="0"/>
                <a:ea typeface="Yu Gothic" pitchFamily="34" charset="-122"/>
                <a:cs typeface="Yu Gothic" pitchFamily="34" charset="-120"/>
              </a:rPr>
              <a:t>（O2, N2, CO2, CH4, H2）</a:t>
            </a:r>
            <a:endParaRPr lang="en-US" sz="1200" dirty="0"/>
          </a:p>
        </p:txBody>
      </p:sp>
      <p:sp>
        <p:nvSpPr>
          <p:cNvPr id="13" name="Text 11"/>
          <p:cNvSpPr/>
          <p:nvPr/>
        </p:nvSpPr>
        <p:spPr>
          <a:xfrm>
            <a:off x="457200" y="4023360"/>
            <a:ext cx="11277295" cy="173736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P-DNN-C3・C4：O2/N2選択性が2015年上限を大きく上回り、既知最高水準（ただしCO2/CH4選択性は低い）</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P-DNN-C2：超高O2・CO2透過性と高い選択性を両立</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P-DNN-C1・C2：剛直な多環骨格＋トリフルオロメチル側鎖によるステリックフラストレーションで透過性を確保</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P-DNN-D1・D2：スピロビフルオレン（SBF）骨格にテトラメチルテトラヒドロナフタレン（TMN）を付加し透過性を向上</a:t>
            </a:r>
            <a:endParaRPr lang="en-US" sz="1200" dirty="0"/>
          </a:p>
        </p:txBody>
      </p:sp>
      <p:sp>
        <p:nvSpPr>
          <p:cNvPr id="14" name="Text 12"/>
          <p:cNvSpPr/>
          <p:nvPr/>
        </p:nvSpPr>
        <p:spPr>
          <a:xfrm>
            <a:off x="457200" y="5806440"/>
            <a:ext cx="11277295" cy="320040"/>
          </a:xfrm>
          <a:prstGeom prst="rect">
            <a:avLst/>
          </a:prstGeom>
          <a:noFill/>
          <a:ln/>
        </p:spPr>
        <p:txBody>
          <a:bodyPr wrap="square" lIns="0" tIns="0" rIns="0" bIns="0" rtlCol="0" anchor="ctr"/>
          <a:lstStyle/>
          <a:p>
            <a:pPr indent="0" marL="0">
              <a:buNone/>
            </a:pPr>
            <a:r>
              <a:rPr lang="en-US" sz="1000" dirty="0">
                <a:solidFill>
                  <a:srgbClr val="607089"/>
                </a:solidFill>
                <a:latin typeface="Yu Gothic" pitchFamily="34" charset="0"/>
                <a:ea typeface="Yu Gothic" pitchFamily="34" charset="-122"/>
                <a:cs typeface="Yu Gothic" pitchFamily="34" charset="-120"/>
              </a:rPr>
              <a:t>※ O2/N2, CO2/CH4, CO2/N2, H2/CO2の定量的な散布図（ML予測 vs MD計算）は原図 Fig. 6 B–E参照</a:t>
            </a:r>
            <a:endParaRPr lang="en-US" sz="1000" dirty="0"/>
          </a:p>
        </p:txBody>
      </p:sp>
      <p:sp>
        <p:nvSpPr>
          <p:cNvPr id="15" name="Shape 13"/>
          <p:cNvSpPr/>
          <p:nvPr/>
        </p:nvSpPr>
        <p:spPr>
          <a:xfrm>
            <a:off x="457200" y="6355080"/>
            <a:ext cx="11277295" cy="0"/>
          </a:xfrm>
          <a:prstGeom prst="line">
            <a:avLst/>
          </a:prstGeom>
          <a:noFill/>
          <a:ln w="9525">
            <a:solidFill>
              <a:srgbClr val="D5DEE7"/>
            </a:solidFill>
            <a:prstDash val="solid"/>
          </a:ln>
        </p:spPr>
      </p:sp>
      <p:sp>
        <p:nvSpPr>
          <p:cNvPr id="16" name="Text 14"/>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Fig. 6 に基づき再構成／Yang et al., Machine learning enables interpretable discovery of innovative polymers for gas separation membranes. Sci. Adv. 8, eabn9545 (2022).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12</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限界と今後の課題</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膜性能を一定と仮定した予測であり、経時劣化や合成可能性など実用化に向けた課題が残る</a:t>
            </a:r>
            <a:endParaRPr lang="en-US" sz="1800" dirty="0"/>
          </a:p>
        </p:txBody>
      </p:sp>
      <p:sp>
        <p:nvSpPr>
          <p:cNvPr id="6" name="Text 4"/>
          <p:cNvSpPr/>
          <p:nvPr/>
        </p:nvSpPr>
        <p:spPr>
          <a:xfrm>
            <a:off x="457200" y="1965960"/>
            <a:ext cx="11277295" cy="42062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膜性能を時間的に一定と仮定しており、物理的エイジング・可塑化・膨潤による性能劣化は考慮していない</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候補ポリマーの合成容易性スコアや溶解度パラメータは有望だが、実際の溶液加工性（成膜可能性）は実証されていない</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DNNモデルは訓練データにない高透過性領域への外挿予測であり、既知範囲内の予測より不確実性が大きい</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自由体積要素などの微細構造的特徴を入力に加えることで、さらなる精度向上の余地があると著者は指摘</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グラフニューラルネットワーク等の他アーキテクチャでは、本研究の範囲では明確な性能向上は見られなかった</a:t>
            </a:r>
            <a:endParaRPr lang="en-US" sz="1200" dirty="0"/>
          </a:p>
        </p:txBody>
      </p:sp>
      <p:sp>
        <p:nvSpPr>
          <p:cNvPr id="7" name="Shape 5"/>
          <p:cNvSpPr/>
          <p:nvPr/>
        </p:nvSpPr>
        <p:spPr>
          <a:xfrm>
            <a:off x="457200" y="6355080"/>
            <a:ext cx="11277295" cy="0"/>
          </a:xfrm>
          <a:prstGeom prst="line">
            <a:avLst/>
          </a:prstGeom>
          <a:noFill/>
          <a:ln w="9525">
            <a:solidFill>
              <a:srgbClr val="D5DEE7"/>
            </a:solidFill>
            <a:prstDash val="solid"/>
          </a:ln>
        </p:spPr>
      </p:sp>
      <p:sp>
        <p:nvSpPr>
          <p:cNvPr id="8" name="Text 6"/>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Yang et al., Machine learning enables interpretable discovery of innovative polymers for gas separation membranes. Sci. Adv. 8, eabn9545 (2022).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13</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結論とまとめ</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解釈可能なマルチタスクMLとMD検証を組み合わせ、次世代ガス分離膜設計を支援するコスト効率的なワークフローを提示</a:t>
            </a:r>
            <a:endParaRPr lang="en-US" sz="1800" dirty="0"/>
          </a:p>
        </p:txBody>
      </p:sp>
      <p:sp>
        <p:nvSpPr>
          <p:cNvPr id="6" name="Text 4"/>
          <p:cNvSpPr/>
          <p:nvPr/>
        </p:nvSpPr>
        <p:spPr>
          <a:xfrm>
            <a:off x="457200" y="1965960"/>
            <a:ext cx="11277295" cy="42062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マルチタスクDNNアンサンブルにより、6種のガス透過性を高精度（test R2 ≈ 0.90）で予測するモデルを構築</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SHAP解析により、透過性/選択性トレードオフを化学的特徴（嵩高い基 vs 極性基）の観点から説明</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900万種超の仮想ポリマーをスクリーニングし、Robeson上限を超える候補を多数（例：O2/N2で約8万件）発見</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高精度MDシミュレーションにより上位候補の予測透過性の妥当性を検証し、実材料への翻訳可能性を示唆</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本ワークフローは、ガス分離膜に限らず他の材料探索・設計タスクへの応用が期待される</a:t>
            </a:r>
            <a:endParaRPr lang="en-US" sz="1200" dirty="0"/>
          </a:p>
        </p:txBody>
      </p:sp>
      <p:sp>
        <p:nvSpPr>
          <p:cNvPr id="7" name="Shape 5"/>
          <p:cNvSpPr/>
          <p:nvPr/>
        </p:nvSpPr>
        <p:spPr>
          <a:xfrm>
            <a:off x="457200" y="6355080"/>
            <a:ext cx="11277295" cy="0"/>
          </a:xfrm>
          <a:prstGeom prst="line">
            <a:avLst/>
          </a:prstGeom>
          <a:noFill/>
          <a:ln w="9525">
            <a:solidFill>
              <a:srgbClr val="D5DEE7"/>
            </a:solidFill>
            <a:prstDash val="solid"/>
          </a:ln>
        </p:spPr>
      </p:sp>
      <p:sp>
        <p:nvSpPr>
          <p:cNvPr id="8" name="Text 6"/>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Yang et al., Machine learning enables interpretable discovery of innovative polymers for gas separation membranes. Sci. Adv. 8, eabn9545 (2022).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2E9E6C"/>
          </a:solidFill>
          <a:ln/>
        </p:spPr>
      </p:sp>
      <p:sp>
        <p:nvSpPr>
          <p:cNvPr id="3" name="Text 1"/>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4" name="Text 2"/>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14</a:t>
            </a:r>
            <a:endParaRPr lang="en-US" sz="1000" dirty="0"/>
          </a:p>
        </p:txBody>
      </p:sp>
      <p:sp>
        <p:nvSpPr>
          <p:cNvPr id="5" name="Text 3"/>
          <p:cNvSpPr/>
          <p:nvPr/>
        </p:nvSpPr>
        <p:spPr>
          <a:xfrm>
            <a:off x="457200" y="594360"/>
            <a:ext cx="11277295" cy="502920"/>
          </a:xfrm>
          <a:prstGeom prst="rect">
            <a:avLst/>
          </a:prstGeom>
          <a:noFill/>
          <a:ln/>
        </p:spPr>
        <p:txBody>
          <a:bodyPr wrap="square" lIns="0" tIns="0" rIns="0" bIns="0" rtlCol="0" anchor="ctr"/>
          <a:lstStyle/>
          <a:p>
            <a:pPr indent="0" marL="0">
              <a:buNone/>
            </a:pPr>
            <a:r>
              <a:rPr lang="en-US" sz="3200" b="1" dirty="0">
                <a:solidFill>
                  <a:srgbClr val="2E9E6C"/>
                </a:solidFill>
                <a:latin typeface="Yu Gothic" pitchFamily="34" charset="0"/>
                <a:ea typeface="Yu Gothic" pitchFamily="34" charset="-122"/>
                <a:cs typeface="Yu Gothic" pitchFamily="34" charset="-120"/>
              </a:rPr>
              <a:t>ARIM関係者への示唆とアクションプラン案</a:t>
            </a:r>
            <a:endParaRPr lang="en-US" sz="3200" dirty="0"/>
          </a:p>
        </p:txBody>
      </p:sp>
      <p:sp>
        <p:nvSpPr>
          <p:cNvPr id="6" name="Text 4"/>
          <p:cNvSpPr/>
          <p:nvPr/>
        </p:nvSpPr>
        <p:spPr>
          <a:xfrm>
            <a:off x="457200" y="1234440"/>
            <a:ext cx="11277295" cy="45720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以下は本資料作成にあたっての示唆であり、原著の結論ではない</a:t>
            </a:r>
            <a:endParaRPr lang="en-US" sz="1800" dirty="0"/>
          </a:p>
        </p:txBody>
      </p:sp>
      <p:sp>
        <p:nvSpPr>
          <p:cNvPr id="7" name="Shape 5"/>
          <p:cNvSpPr/>
          <p:nvPr/>
        </p:nvSpPr>
        <p:spPr>
          <a:xfrm>
            <a:off x="457200" y="1828800"/>
            <a:ext cx="3566160" cy="365760"/>
          </a:xfrm>
          <a:prstGeom prst="rect">
            <a:avLst/>
          </a:prstGeom>
          <a:solidFill>
            <a:srgbClr val="E7F5EF"/>
          </a:solidFill>
          <a:ln/>
        </p:spPr>
      </p:sp>
      <p:sp>
        <p:nvSpPr>
          <p:cNvPr id="8" name="Text 6"/>
          <p:cNvSpPr/>
          <p:nvPr/>
        </p:nvSpPr>
        <p:spPr>
          <a:xfrm>
            <a:off x="502920" y="1828800"/>
            <a:ext cx="3474720" cy="365760"/>
          </a:xfrm>
          <a:prstGeom prst="rect">
            <a:avLst/>
          </a:prstGeom>
          <a:noFill/>
          <a:ln/>
        </p:spPr>
        <p:txBody>
          <a:bodyPr wrap="square" lIns="0" tIns="0" rIns="0" bIns="0" rtlCol="0" anchor="ctr"/>
          <a:lstStyle/>
          <a:p>
            <a:pPr algn="l" indent="0" marL="0">
              <a:buNone/>
            </a:pPr>
            <a:r>
              <a:rPr lang="en-US" sz="1400" b="1" dirty="0">
                <a:solidFill>
                  <a:srgbClr val="2E9E6C"/>
                </a:solidFill>
                <a:latin typeface="Yu Gothic" pitchFamily="34" charset="0"/>
                <a:ea typeface="Yu Gothic" pitchFamily="34" charset="-122"/>
                <a:cs typeface="Yu Gothic" pitchFamily="34" charset="-120"/>
              </a:rPr>
              <a:t>研究の意味</a:t>
            </a:r>
            <a:endParaRPr lang="en-US" sz="1400" dirty="0"/>
          </a:p>
        </p:txBody>
      </p:sp>
      <p:sp>
        <p:nvSpPr>
          <p:cNvPr id="9" name="Text 7"/>
          <p:cNvSpPr/>
          <p:nvPr/>
        </p:nvSpPr>
        <p:spPr>
          <a:xfrm>
            <a:off x="457200" y="2240280"/>
            <a:ext cx="3566160" cy="18288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ARIMが保有する計測・材料物性データを、解釈可能なマルチタスクMLモデルの学習データとして活用しうる可能性</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SHAP等の説明可能AI手法は、装置データと物性の関係を可視化する共用基盤の付加価値になりうる</a:t>
            </a:r>
            <a:endParaRPr lang="en-US" sz="1200" dirty="0"/>
          </a:p>
        </p:txBody>
      </p:sp>
      <p:sp>
        <p:nvSpPr>
          <p:cNvPr id="10" name="Shape 8"/>
          <p:cNvSpPr/>
          <p:nvPr/>
        </p:nvSpPr>
        <p:spPr>
          <a:xfrm>
            <a:off x="4251960" y="1828800"/>
            <a:ext cx="3566160" cy="365760"/>
          </a:xfrm>
          <a:prstGeom prst="rect">
            <a:avLst/>
          </a:prstGeom>
          <a:solidFill>
            <a:srgbClr val="E7F5EF"/>
          </a:solidFill>
          <a:ln/>
        </p:spPr>
      </p:sp>
      <p:sp>
        <p:nvSpPr>
          <p:cNvPr id="11" name="Text 9"/>
          <p:cNvSpPr/>
          <p:nvPr/>
        </p:nvSpPr>
        <p:spPr>
          <a:xfrm>
            <a:off x="4297680" y="1828800"/>
            <a:ext cx="3474720" cy="365760"/>
          </a:xfrm>
          <a:prstGeom prst="rect">
            <a:avLst/>
          </a:prstGeom>
          <a:noFill/>
          <a:ln/>
        </p:spPr>
        <p:txBody>
          <a:bodyPr wrap="square" lIns="0" tIns="0" rIns="0" bIns="0" rtlCol="0" anchor="ctr"/>
          <a:lstStyle/>
          <a:p>
            <a:pPr algn="l" indent="0" marL="0">
              <a:buNone/>
            </a:pPr>
            <a:r>
              <a:rPr lang="en-US" sz="1400" b="1" dirty="0">
                <a:solidFill>
                  <a:srgbClr val="2E9E6C"/>
                </a:solidFill>
                <a:latin typeface="Yu Gothic" pitchFamily="34" charset="0"/>
                <a:ea typeface="Yu Gothic" pitchFamily="34" charset="-122"/>
                <a:cs typeface="Yu Gothic" pitchFamily="34" charset="-120"/>
              </a:rPr>
              <a:t>想定される活用方向性</a:t>
            </a:r>
            <a:endParaRPr lang="en-US" sz="1400" dirty="0"/>
          </a:p>
        </p:txBody>
      </p:sp>
      <p:sp>
        <p:nvSpPr>
          <p:cNvPr id="12" name="Text 10"/>
          <p:cNvSpPr/>
          <p:nvPr/>
        </p:nvSpPr>
        <p:spPr>
          <a:xfrm>
            <a:off x="4251960" y="2240280"/>
            <a:ext cx="3566160" cy="18288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ARIM計測データ（XRD等）を用いた構造-物性相関解析への応用検討</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利用者向けSHAP解釈チュートリアル・セミナーの企画</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仮想スクリーニング＋実験検証（MD等）のループ構築支援</a:t>
            </a:r>
            <a:endParaRPr lang="en-US" sz="1200" dirty="0"/>
          </a:p>
        </p:txBody>
      </p:sp>
      <p:sp>
        <p:nvSpPr>
          <p:cNvPr id="13" name="Shape 11"/>
          <p:cNvSpPr/>
          <p:nvPr/>
        </p:nvSpPr>
        <p:spPr>
          <a:xfrm>
            <a:off x="8503920" y="1828800"/>
            <a:ext cx="3227832" cy="365760"/>
          </a:xfrm>
          <a:prstGeom prst="rect">
            <a:avLst/>
          </a:prstGeom>
          <a:solidFill>
            <a:srgbClr val="FCE8EC"/>
          </a:solidFill>
          <a:ln/>
        </p:spPr>
      </p:sp>
      <p:sp>
        <p:nvSpPr>
          <p:cNvPr id="14" name="Text 12"/>
          <p:cNvSpPr/>
          <p:nvPr/>
        </p:nvSpPr>
        <p:spPr>
          <a:xfrm>
            <a:off x="8549640" y="1828800"/>
            <a:ext cx="3136392" cy="365760"/>
          </a:xfrm>
          <a:prstGeom prst="rect">
            <a:avLst/>
          </a:prstGeom>
          <a:noFill/>
          <a:ln/>
        </p:spPr>
        <p:txBody>
          <a:bodyPr wrap="square" lIns="0" tIns="0" rIns="0" bIns="0" rtlCol="0" anchor="ctr"/>
          <a:lstStyle/>
          <a:p>
            <a:pPr algn="l" indent="0" marL="0">
              <a:buNone/>
            </a:pPr>
            <a:r>
              <a:rPr lang="en-US" sz="1400" b="1" dirty="0">
                <a:solidFill>
                  <a:srgbClr val="E84A5F"/>
                </a:solidFill>
                <a:latin typeface="Yu Gothic" pitchFamily="34" charset="0"/>
                <a:ea typeface="Yu Gothic" pitchFamily="34" charset="-122"/>
                <a:cs typeface="Yu Gothic" pitchFamily="34" charset="-120"/>
              </a:rPr>
              <a:t>未検討・要確認事項</a:t>
            </a:r>
            <a:endParaRPr lang="en-US" sz="1400" dirty="0"/>
          </a:p>
        </p:txBody>
      </p:sp>
      <p:sp>
        <p:nvSpPr>
          <p:cNvPr id="15" name="Text 13"/>
          <p:cNvSpPr/>
          <p:nvPr/>
        </p:nvSpPr>
        <p:spPr>
          <a:xfrm>
            <a:off x="8503920" y="2240280"/>
            <a:ext cx="3227832" cy="182880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ARIM保有データの規模・質がこの種のML学習に十分か</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ポリマー以外の材料系への適用可能性</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MD等計算資源の確保・体制</a:t>
            </a:r>
            <a:endParaRPr lang="en-US" sz="1200" dirty="0"/>
          </a:p>
        </p:txBody>
      </p:sp>
      <p:sp>
        <p:nvSpPr>
          <p:cNvPr id="16" name="Shape 14"/>
          <p:cNvSpPr/>
          <p:nvPr/>
        </p:nvSpPr>
        <p:spPr>
          <a:xfrm>
            <a:off x="457200" y="4251960"/>
            <a:ext cx="11277295" cy="365760"/>
          </a:xfrm>
          <a:prstGeom prst="rect">
            <a:avLst/>
          </a:prstGeom>
          <a:solidFill>
            <a:srgbClr val="2E9E6C"/>
          </a:solidFill>
          <a:ln/>
        </p:spPr>
      </p:sp>
      <p:sp>
        <p:nvSpPr>
          <p:cNvPr id="17" name="Text 15"/>
          <p:cNvSpPr/>
          <p:nvPr/>
        </p:nvSpPr>
        <p:spPr>
          <a:xfrm>
            <a:off x="502920" y="4251960"/>
            <a:ext cx="11185855" cy="365760"/>
          </a:xfrm>
          <a:prstGeom prst="rect">
            <a:avLst/>
          </a:prstGeom>
          <a:noFill/>
          <a:ln/>
        </p:spPr>
        <p:txBody>
          <a:bodyPr wrap="square" lIns="0" tIns="0" rIns="0" bIns="0"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アクションプラン案（時間軸別）</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4709160"/>
          <a:ext cx="11277295" cy="1554480"/>
        </p:xfrm>
        <a:graphic>
          <a:graphicData uri="http://schemas.openxmlformats.org/drawingml/2006/table">
            <a:tbl>
              <a:tblPr/>
              <a:tblGrid>
                <a:gridCol w="2377440"/>
                <a:gridCol w="6519672"/>
                <a:gridCol w="2377440"/>
              </a:tblGrid>
              <a:tr h="384048">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主体</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内容</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時間軸</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12385B"/>
                    </a:solidFill>
                  </a:tcPr>
                </a:tc>
              </a:tr>
              <a:tr h="384048">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Center Hub</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SHAP等の解釈可能MLに関するセミナー・輪読会の企画</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短期</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データ共用化推進室</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材料物性データのFAIR化・ML訓練データとしての整備</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中期</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利用者</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自身の実験データでのマルチタスクMLモデル試行、計算資源との連携検討</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c>
                  <a:txBody>
                    <a:bodyPr/>
                    <a:lstStyle/>
                    <a:p>
                      <a:pPr indent="0" marL="0">
                        <a:buNone/>
                      </a:pPr>
                      <a:r>
                        <a:rPr lang="en-US" sz="1200" dirty="0">
                          <a:solidFill>
                            <a:srgbClr val="182235"/>
                          </a:solidFill>
                          <a:latin typeface="Yu Gothic" pitchFamily="34" charset="0"/>
                          <a:ea typeface="Yu Gothic" pitchFamily="34" charset="-122"/>
                          <a:cs typeface="Yu Gothic" pitchFamily="34" charset="-120"/>
                        </a:rPr>
                        <a:t>中期〜長期</a:t>
                      </a:r>
                      <a:endParaRPr lang="en-US" sz="1200" dirty="0">
                        <a:latin typeface="Yu Gothic" charset="0"/>
                        <a:ea typeface="Yu Gothic" charset="0"/>
                        <a:cs typeface="Yu Gothic" charset="0"/>
                      </a:endParaRPr>
                    </a:p>
                  </a:txBody>
                  <a:tcPr marL="91440" marR="91440" marT="45720" marB="45720" anchor="ctr">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rgbClr val="FFFFFF"/>
                    </a:solidFill>
                  </a:tcPr>
                </a:tc>
              </a:tr>
            </a:tbl>
          </a:graphicData>
        </a:graphic>
      </p:graphicFrame>
      <p:sp>
        <p:nvSpPr>
          <p:cNvPr id="19" name="Shape 16"/>
          <p:cNvSpPr/>
          <p:nvPr/>
        </p:nvSpPr>
        <p:spPr>
          <a:xfrm>
            <a:off x="457200" y="6355080"/>
            <a:ext cx="11277295" cy="0"/>
          </a:xfrm>
          <a:prstGeom prst="line">
            <a:avLst/>
          </a:prstGeom>
          <a:noFill/>
          <a:ln w="9525">
            <a:solidFill>
              <a:srgbClr val="D5DEE7"/>
            </a:solidFill>
            <a:prstDash val="solid"/>
          </a:ln>
        </p:spPr>
      </p:sp>
      <p:sp>
        <p:nvSpPr>
          <p:cNvPr id="20" name="Text 17"/>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本ページの内容は本資料作成側の解釈・提案であり、原著の主張ではない／Yang et al., Machine learning enables interpretable discovery of innovative polymers for gas separation membranes. Sci. Adv. 8, eabn9545 (2022).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228600"/>
          </a:xfrm>
          <a:prstGeom prst="rect">
            <a:avLst/>
          </a:prstGeom>
          <a:noFill/>
          <a:ln/>
        </p:spPr>
        <p:txBody>
          <a:bodyPr wrap="square" lIns="0" tIns="0" rIns="0" bIns="0" rtlCol="0" anchor="ctr"/>
          <a:lstStyle/>
          <a:p>
            <a:pPr algn="l" indent="0" marL="0">
              <a:buNone/>
            </a:pPr>
            <a:r>
              <a:rPr lang="en-US" sz="1000" dirty="0">
                <a:solidFill>
                  <a:srgbClr val="607089"/>
                </a:solidFill>
                <a:latin typeface="Yu Gothic" pitchFamily="34" charset="0"/>
                <a:ea typeface="Yu Gothic" pitchFamily="34" charset="-122"/>
                <a:cs typeface="Yu Gothic" pitchFamily="34" charset="-120"/>
              </a:rPr>
              <a:t>論文紹介：ML for Gas Separation Membranes</a:t>
            </a:r>
            <a:endParaRPr lang="en-US" sz="1000" dirty="0"/>
          </a:p>
        </p:txBody>
      </p:sp>
      <p:sp>
        <p:nvSpPr>
          <p:cNvPr id="3" name="Text 1"/>
          <p:cNvSpPr/>
          <p:nvPr/>
        </p:nvSpPr>
        <p:spPr>
          <a:xfrm>
            <a:off x="11185855" y="228600"/>
            <a:ext cx="548640" cy="228600"/>
          </a:xfrm>
          <a:prstGeom prst="rect">
            <a:avLst/>
          </a:prstGeom>
          <a:noFill/>
          <a:ln/>
        </p:spPr>
        <p:txBody>
          <a:bodyPr wrap="square" lIns="0" tIns="0" rIns="0" bIns="0" rtlCol="0" anchor="ctr"/>
          <a:lstStyle/>
          <a:p>
            <a:pPr algn="r" indent="0" marL="0">
              <a:buNone/>
            </a:pPr>
            <a:r>
              <a:rPr lang="en-US" sz="1000" dirty="0">
                <a:solidFill>
                  <a:srgbClr val="607089"/>
                </a:solidFill>
                <a:latin typeface="Yu Gothic" pitchFamily="34" charset="0"/>
                <a:ea typeface="Yu Gothic" pitchFamily="34" charset="-122"/>
                <a:cs typeface="Yu Gothic" pitchFamily="34" charset="-120"/>
              </a:rPr>
              <a:t>15</a:t>
            </a:r>
            <a:endParaRPr lang="en-US" sz="1000" dirty="0"/>
          </a:p>
        </p:txBody>
      </p:sp>
      <p:sp>
        <p:nvSpPr>
          <p:cNvPr id="4" name="Text 2"/>
          <p:cNvSpPr/>
          <p:nvPr/>
        </p:nvSpPr>
        <p:spPr>
          <a:xfrm>
            <a:off x="457200" y="594360"/>
            <a:ext cx="11277295" cy="502920"/>
          </a:xfrm>
          <a:prstGeom prst="rect">
            <a:avLst/>
          </a:prstGeom>
          <a:noFill/>
          <a:ln/>
        </p:spPr>
        <p:txBody>
          <a:bodyPr wrap="square" lIns="0" tIns="0" rIns="0" bIns="0" rtlCol="0" anchor="t"/>
          <a:lstStyle/>
          <a:p>
            <a:pPr algn="l" indent="0" marL="0">
              <a:buNone/>
            </a:pPr>
            <a:r>
              <a:rPr lang="en-US" sz="3200" b="1" dirty="0">
                <a:solidFill>
                  <a:srgbClr val="12385B"/>
                </a:solidFill>
                <a:latin typeface="Yu Gothic" pitchFamily="34" charset="0"/>
                <a:ea typeface="Yu Gothic" pitchFamily="34" charset="-122"/>
                <a:cs typeface="Yu Gothic" pitchFamily="34" charset="-120"/>
              </a:rPr>
              <a:t>主要参考文献</a:t>
            </a:r>
            <a:endParaRPr lang="en-US" sz="3200" dirty="0"/>
          </a:p>
        </p:txBody>
      </p:sp>
      <p:sp>
        <p:nvSpPr>
          <p:cNvPr id="5" name="Text 3"/>
          <p:cNvSpPr/>
          <p:nvPr/>
        </p:nvSpPr>
        <p:spPr>
          <a:xfrm>
            <a:off x="457200" y="1234440"/>
            <a:ext cx="11277295" cy="548640"/>
          </a:xfrm>
          <a:prstGeom prst="rect">
            <a:avLst/>
          </a:prstGeom>
          <a:noFill/>
          <a:ln/>
        </p:spPr>
        <p:txBody>
          <a:bodyPr wrap="square" lIns="0" tIns="0" rIns="0" bIns="0" rtlCol="0" anchor="t"/>
          <a:lstStyle/>
          <a:p>
            <a:pPr algn="l" indent="0" marL="0">
              <a:lnSpc>
                <a:spcPct val="125000"/>
              </a:lnSpc>
              <a:buNone/>
            </a:pPr>
            <a:r>
              <a:rPr lang="en-US" sz="1800" dirty="0">
                <a:solidFill>
                  <a:srgbClr val="1779BA"/>
                </a:solidFill>
                <a:latin typeface="Yu Gothic" pitchFamily="34" charset="0"/>
                <a:ea typeface="Yu Gothic" pitchFamily="34" charset="-122"/>
                <a:cs typeface="Yu Gothic" pitchFamily="34" charset="-120"/>
              </a:rPr>
              <a:t>本資料は下記の原著論文および、本文中で直接参照されている主要文献に基づく</a:t>
            </a:r>
            <a:endParaRPr lang="en-US" sz="1800" dirty="0"/>
          </a:p>
        </p:txBody>
      </p:sp>
      <p:sp>
        <p:nvSpPr>
          <p:cNvPr id="6" name="Text 4"/>
          <p:cNvSpPr/>
          <p:nvPr/>
        </p:nvSpPr>
        <p:spPr>
          <a:xfrm>
            <a:off x="457200" y="1965960"/>
            <a:ext cx="11277295" cy="42062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Yang, J. et al. Machine learning enables interpretable discovery of innovative polymers for gas separation membranes. Sci. Adv. 8, eabn9545 (2022).（本資料の対象論文）</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Robeson, L. M. The upper bound revisited. J. Membr. Sci. 320, 390-400 (2008).</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Barnett, J. W. et al. Designing exceptional gas-separation polymer membranes using machine learning. Sci. Adv. 6, eaaz4301 (2020).</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Lundberg, S. &amp; Lee, S.-I. A unified approach to interpreting model predictions. arXiv:1705.07874 (2017).（SHAP）</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Ma, R. &amp; Luo, T. PI1M: A benchmark database for polymer informatics. J. Chem. Inf. Model. 60, 4684-4690 (2020).（dataset B）</a:t>
            </a:r>
            <a:endParaRPr lang="en-US" sz="1200" dirty="0"/>
          </a:p>
          <a:p>
            <a:pPr marL="342900" indent="-342900">
              <a:lnSpc>
                <a:spcPct val="115000"/>
              </a:lnSpc>
              <a:spcAft>
                <a:spcPts val="800"/>
              </a:spcAft>
              <a:buSzPct val="100000"/>
              <a:buChar char="•"/>
            </a:pPr>
            <a:r>
              <a:rPr lang="en-US" sz="1200" dirty="0">
                <a:solidFill>
                  <a:srgbClr val="182235"/>
                </a:solidFill>
                <a:latin typeface="Yu Gothic" pitchFamily="34" charset="0"/>
                <a:ea typeface="Yu Gothic" pitchFamily="34" charset="-122"/>
                <a:cs typeface="Yu Gothic" pitchFamily="34" charset="-120"/>
              </a:rPr>
              <a:t>Budd, P. M. et al. Gas separation membranes from polymers of intrinsic microporosity. J. Membr. Sci. 251, 263-269 (2005).（PIM-1）</a:t>
            </a:r>
            <a:endParaRPr lang="en-US" sz="1200" dirty="0"/>
          </a:p>
        </p:txBody>
      </p:sp>
      <p:sp>
        <p:nvSpPr>
          <p:cNvPr id="7" name="Shape 5"/>
          <p:cNvSpPr/>
          <p:nvPr/>
        </p:nvSpPr>
        <p:spPr>
          <a:xfrm>
            <a:off x="457200" y="6355080"/>
            <a:ext cx="11277295" cy="0"/>
          </a:xfrm>
          <a:prstGeom prst="line">
            <a:avLst/>
          </a:prstGeom>
          <a:noFill/>
          <a:ln w="9525">
            <a:solidFill>
              <a:srgbClr val="D5DEE7"/>
            </a:solidFill>
            <a:prstDash val="solid"/>
          </a:ln>
        </p:spPr>
      </p:sp>
      <p:sp>
        <p:nvSpPr>
          <p:cNvPr id="8" name="Text 6"/>
          <p:cNvSpPr/>
          <p:nvPr/>
        </p:nvSpPr>
        <p:spPr>
          <a:xfrm>
            <a:off x="457200" y="6446520"/>
            <a:ext cx="11277295" cy="274320"/>
          </a:xfrm>
          <a:prstGeom prst="rect">
            <a:avLst/>
          </a:prstGeom>
          <a:noFill/>
          <a:ln/>
        </p:spPr>
        <p:txBody>
          <a:bodyPr wrap="square" lIns="0" tIns="0" rIns="0" bIns="0" rtlCol="0" anchor="t"/>
          <a:lstStyle/>
          <a:p>
            <a:pPr algn="l" indent="0" marL="0">
              <a:buNone/>
            </a:pPr>
            <a:r>
              <a:rPr lang="en-US" sz="1000" dirty="0">
                <a:solidFill>
                  <a:srgbClr val="607089"/>
                </a:solidFill>
                <a:latin typeface="Yu Gothic" pitchFamily="34" charset="0"/>
                <a:ea typeface="Yu Gothic" pitchFamily="34" charset="-122"/>
                <a:cs typeface="Yu Gothic" pitchFamily="34" charset="-120"/>
              </a:rPr>
              <a:t>Yang et al., Machine learning enables interpretable discovery of innovative polymers for gas separation membranes. Sci. Adv. 8, eabn9545 (2022).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2026-08-10T07:33:04Z</dcterms:created>
  <dcterms:modified xsi:type="dcterms:W3CDTF">2026-08-10T07:33:04Z</dcterms:modified>
</cp:coreProperties>
</file>